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morning/afternoon. Today I'll be presenting a literature survey on cancer-targeting peptides for lung cancer — spanning a decade of research from 2014 to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the roadmap. We'll move through seven sections covering discovery, direct activity, drug conjugates, nanoparticles, AI design, reviews, and cross-cutting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start with the foundation — how do we find peptides that specifically recognize and bind to lung cancer cells? The primary workhorse has been phage display biopanning.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starts in 2014 with McGuire at SRI International. They screened three phage display libraries and identified 11 novel peptides with binding affinities as tight as 7 picomolar.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et al. identified peptides that work across both SCLC and NSCLC. HSP4-liposomal doxorubicin extended survival by 47 days. They also demonstrated theranostic MRI imaging.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Bakhshinejad identified LCP1, a short 7-mer peptide with a selectivity index of 5.1 for A549 lung cancer over normal lung cells.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Furman et al. combined phage display with next-generation sequencing — screening over 617,000 sequences. Their cyclic peptide P9 conjugated to camptothecin was 2-3x more cytotoxic than the free drug.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Zhou et al. achieved dual targeting — NKTP-3 binds NRP1 on the cell surface and targets intracellular KRAS G12D. First peptide to simultaneously target a surface receptor and intracellular oncoprotein.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group as McGuire 2014, nearly a decade later. Optimized to MGS4_V8 with IC50 9.4 nM with saporin. 25-40x tumor accumulation and 50% tumor reduction in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let's shift from peptides that target to peptides that kill. These are anticancer peptides where the peptide itself is the therapeutic.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Shin et al. used AI to design a peptide from scratch. AC-P19M kills lung cancer cells at 10-15 micromolar with zero toxicity to normal cells up to 100 micromolar. Remarkable multi-mechanism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Yang et al. designed a simple 14-residue triblock peptide. In vivo, 81.6% tumor volume reduction with 12.9-fold selectivity. The simplicity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Peptide-drug conjugates — the peptide equivalent of antibody-drug conjugates, but at a fraction of the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BT8009 is the star of this survey. At 4 kilodaltons it achieves antibody-like affinity. Near-complete tumor regression. And it's in Phase I/II clinical trials.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Singh et al. achieved the biggest paradigm shift — SFTI-G5, an oral anticancer peptide. IC50 73 nM, &gt;500-fold selectivity, and confirmed oral bioavailability.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peptides are being integrated into nanocarrier systems for enhanced delivery to lung tumors.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 and Park reviewed three peptide-NP strategies. The lung highlight was CPP33 on a ZIF-90 framework carrying both siRNA and Oridonin.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et al. provided the most comprehensive nanocarrier review. The emerging trend: inhalable nanoparticle systems that bypass systemic circulation for lung-specific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computational revolution — how AI and machine learning are reshaping peptide design and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Wu et al. reviewed 68 AI models. The critical gap: most lack experimental validation. No AI-discovered ACP has reached clinical trials. The hype is real but so is the validation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Chowdhury et al. provide the theoretical framework behind Singh's SFTI-G5. Molecular chimeras: plant scaffolds grafted with cancer-targeting epitopes. This is the blueprint for next-gen orally available peptide therapeutics.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6 covers five review papers that provide the broader context for everything we've discussed.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Karankar et al. mapped peptides against six NSCLC driver mutations. Key insight: peptides bridge TKIs and antibodies. But zero peptides target ALK, ROS1, or MET fusions.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Karati: ACPs bypass P-glycoprotein efflux through membrane disruption. Nhan: broadest scope — 56 pre-clinical and 10 clinical-stage peptides.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Alamdari-palangi: 28 clinical trials of PDCs. Bauso: 7 lung cancer peptides cataloged, &gt;1000 ACP clinical trials globally.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let's step back and look at the patterns across all 19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field evolved from classic phage display to NGS-enhanced screening, de novo AI design, scaffold engineering, and large-scale AI models. Clear trajectory toward rational, computationally guided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EGFR/HER2 appears in 8 papers. BT8009 targets Nectin-4 in Phase I/II. Critical gaps: zero peptides for KRAS G12C and ALK/ROS1/MET fusions.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numbers: 7 picomolar binding, 9.4 nM cytotoxicity, 81.6% tumor reduction, 47-day survival extension, &gt;500-fold selectivity. Numbers that rival antibody-drug conjugates.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papers remain at discovery. Six have in vivo data. Only BT8009 reached clinical trials. AI has 68 models but zero clinical validation. Discovery outpaces translation.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 gaps: KRAS G12C, SCLC, ALK/ROS1/MET, orthotopic models, head-to-head comparisons, AI validation, immunotherapy combinations.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opportunities: oral peptides, AI-to-clinic, peptide-immunotherapy, inhalable delivery, dual-target peptides.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19 papers listed. Thank you —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274320"/>
            <a:ext cx="731520" cy="73152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1097280"/>
            <a:ext cx="457200" cy="45720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1371600"/>
            <a:ext cx="320040" cy="32004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0"/>
            <a:ext cx="548640" cy="54864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132320" y="640080"/>
            <a:ext cx="228600" cy="22860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3200400"/>
            <a:ext cx="548640" cy="54864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95360" y="3840480"/>
            <a:ext cx="365760" cy="36576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315200" y="3657600"/>
            <a:ext cx="274320" cy="27432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731520"/>
            <a:ext cx="0" cy="320040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5486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Cancer-Targeting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Peptides for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Lung Cancer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097280" y="3200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D3E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2014 – 2025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97280" y="3840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literature survey of 19 papers tracing the evolution of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peptide-based strategies for targeting, therapy, and drug delivery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86868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61872"/>
            <a:ext cx="274320" cy="27432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 Discovery &amp; Targeting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papers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792224"/>
            <a:ext cx="274320" cy="2743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92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88720" y="171907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Anticancer Peptides with Direct Activity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32320" y="17190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papers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322576"/>
            <a:ext cx="274320" cy="2743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88720" y="2249424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Peptide-Drug Conjugates &amp; Delivery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22494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papers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85292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77977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Nanoparticles &amp; Delivery Platforms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32320" y="277977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papers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274320" cy="2743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31012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&amp; AI-Driven Design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3310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papers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913632"/>
            <a:ext cx="274320" cy="27432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3840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Landscape Papers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32320" y="3840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papers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443984"/>
            <a:ext cx="274320" cy="27432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443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37083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Analysis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0" y="43708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22D3EE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 Discovery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Targeting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find peptides that specifically recognize lung cancer cells?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oura\Desktop\cancer-peptides-literature-survey\papers\images\mcguire-2014-fig1-bi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0" y="0"/>
            <a:ext cx="1645920" cy="5143500"/>
          </a:xfrm>
          <a:prstGeom prst="rect">
            <a:avLst/>
          </a:prstGeom>
          <a:solidFill>
            <a:srgbClr val="04111D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840480" y="0"/>
            <a:ext cx="914400" cy="5143500"/>
          </a:xfrm>
          <a:prstGeom prst="rect">
            <a:avLst/>
          </a:prstGeom>
          <a:solidFill>
            <a:srgbClr val="04111D">
              <a:alpha val="9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4549140"/>
            <a:ext cx="4389120" cy="59436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82880" y="45948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profiles of NSCLC-targeting peptides across 40 cell lines (McGuire et al. 2014)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754880" y="320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McGuire et al. (2014)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754880" y="640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Tumor Targeting Peptides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NSCLC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155448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Phage display: 3 libraries (7-mer, 12-mer, C7C) on live NSCLC cells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novel peptides with distinct binding profiles across 40 cell lines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Tetramer KD as tight as 7 picomolar — binding correlates with EGFR/KRAS genotype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 tumor homing confirmed; validated on patient tumor samples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paper — same group optimized MGS4 a decade later (Allred 2023)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McGuire et al. (2014)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46320" y="27432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3" name="Image 0" descr="C:\Users\soura\Desktop\cancer-peptides-literature-survey\papers\images\chi-2017-fig3-m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365760"/>
            <a:ext cx="374904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3776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tumor imaging with HSP peptides (Chi 2017)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4846320" y="260604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1" descr="C:\Users\soura\Desktop\cancer-peptides-literature-survey\papers\images\chi-2017-fig8-surviv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697480"/>
            <a:ext cx="374904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4480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curves: 131 vs 84 days (Chi 2017)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548640" y="320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et al. (2017)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48640" y="640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Multi-Subtype Targeting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Theranostics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54864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155448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Phage display on H460 cells → HSP1, HSP2, HSP4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SCLC + NSCLC (4 subtypes) — rare in this field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HSP4-liposomal dox: survival 131 vs 84 days (+47 d)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Theranostic: MRI imaging with ~42% signal reduction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orthotopic lung model in entire 19-paper survey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et al. (2017)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Bakhshinejad et al. (2018)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Novel Tumor-Binding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 LCP1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Ph.D.-7 phage display (7-mer library), 3 rounds on A549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LCP1 (AWRTHTP) — 170-fold phage enrichment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Selectivity index 5.1 over normal lung WI-38 cells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binding to liver, esophageal, or breast cancer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 only; receptor unknown; early-stage discovery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5.1x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Selectivity index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vs WI-38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lung cells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Bakhshinejad et al. (2018)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oura\Desktop\cancer-peptides-literature-survey\papers\images\furman-2022-fig6-doc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0" y="0"/>
            <a:ext cx="1371600" cy="5143500"/>
          </a:xfrm>
          <a:prstGeom prst="rect">
            <a:avLst/>
          </a:prstGeom>
          <a:solidFill>
            <a:srgbClr val="04111D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754880" y="4549140"/>
            <a:ext cx="4389120" cy="59436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937760" y="45948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docking of cyclic peptides to EGFR (Furman 2022)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Furman et al. (2022)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0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 Peptides for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EGFR / EGFRvIII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5544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combine phage display + NGS: 617,503 sequences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 peptides P6 (NSCLC) and P9 (glioblastoma)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P9-camptothecin: 2-3x more cytotoxic than free drug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EGFR wild-type and EGFRvIII mutant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parallel screening replaces colony picking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Furman et al. (2022)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 (2022)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NKTP-3: Dual-Targeting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 D-Peptide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Structure-based computational design + virtual screening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 D-peptide: protease-resistant, cell-permeable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dual-target: NRP1 (surface) + KRAS G12D (intracellular)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for G12D over wild-type, G12C, G12V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 vivo activity; no obvious toxicity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Paradigm: simultaneous surface + intracellular targeting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peptide targeting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receptor 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intracellular oncoprotein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 (2022)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oura\Desktop\cancer-peptides-literature-survey\papers\images\allred-2023-fig5-tumor-hom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0" y="0"/>
            <a:ext cx="1645920" cy="5143500"/>
          </a:xfrm>
          <a:prstGeom prst="rect">
            <a:avLst/>
          </a:prstGeom>
          <a:solidFill>
            <a:srgbClr val="04111D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840480" y="0"/>
            <a:ext cx="914400" cy="5143500"/>
          </a:xfrm>
          <a:prstGeom prst="rect">
            <a:avLst/>
          </a:prstGeom>
          <a:solidFill>
            <a:srgbClr val="04111D">
              <a:alpha val="9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4549140"/>
            <a:ext cx="4389120" cy="59436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82880" y="45948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240-fold tumor accumulation (NIR) &amp; tumor growth inhibition (Allred 2023)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754880" y="320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 et al. (2023)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754880" y="640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Peptide-Guided Saporin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to NSCLC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155448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of McGuire 2014 — same group (SRI International)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MGS4_V8 (Ac-FHAVPQSFYT): 10-aa monomer, N-terminal acetylation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EC50 &lt; 40 nM on 4 NSCLC lines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saporin toxin: IC50 9.4 nM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vivo: 25-40x tumor accumulation; ~50% tumor reduction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iterative optimization over a decade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 et al. (2023)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14B8A6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Anticancer Peptides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Direct Activity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peptide IS the drug — killing cancer through membrane disruption and apoptosis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oura\Desktop\cancer-peptides-literature-survey\papers\images\shin-2022-fig1-desig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0" y="0"/>
            <a:ext cx="1371600" cy="5143500"/>
          </a:xfrm>
          <a:prstGeom prst="rect">
            <a:avLst/>
          </a:prstGeom>
          <a:solidFill>
            <a:srgbClr val="04111D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754880" y="4549140"/>
            <a:ext cx="4389120" cy="59436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4937760" y="45948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novo design pipeline with AI prediction (Shin 2022)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320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 et al. (2022)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0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AC-P19M: AI-Designed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Anticancer Peptide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5544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tools: mACPpred, ACPred, ENNACT for de novo design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AC-P19M: net charge +9, alpha-helical structure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IC50 ~10-15 uM on A549/H460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toxicity at 100 uM in normal cells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Multi-mechanism: apoptosis + membrane disruption + VEGFR2 suppression + anti-EMT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 et al. (2022)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46320" y="27432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3" name="Image 0" descr="C:\Users\soura\Desktop\cancer-peptides-literature-survey\papers\images\yang-2022-fig7-tumor-red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365760"/>
            <a:ext cx="374904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3776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81.6% tumor reduction in BALB/c nude mice (Yang 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4846320" y="260604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1" descr="C:\Users\soura\Desktop\cancer-peptides-literature-survey\papers\images\yang-2022-fig8-mechanis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697480"/>
            <a:ext cx="374904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4480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Amphiphilic self-assembly and membrane disruption (Yang 2022)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548640" y="320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(2022)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48640" y="640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K4F6K4: Elegant Simplicity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Peptide Design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54864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155448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 triblock: KKKK-FFFFFF-KKKK — just 14 residues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Cationic blocks + hydrophobic core = selective membrane disruption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81.6% tumor volume reduction at Day 28 in vivo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12.9x selectivity over normal MRC-5 fibroblasts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different from receptor-based targeting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(2022)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38BDF8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Peptide-Drug Conjugates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Delivery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missiles: peptides delivering cytotoxic payloads at a fraction of antibody size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46320" y="27432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3" name="Image 0" descr="C:\Users\soura\Desktop\cancer-peptides-literature-survey\papers\images\mudd-2022-fig3-bt8009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365760"/>
            <a:ext cx="374904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3776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BT8009 structure: bicycle peptide + linker + MMAE (Mudd 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4846320" y="2606040"/>
            <a:ext cx="39319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1" descr="C:\Users\soura\Desktop\cancer-peptides-literature-survey\papers\images\mudd-2022-fig4-efficac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697480"/>
            <a:ext cx="374904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4480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Near-complete tumor regression in xenograft (Mudd 2022)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548640" y="320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Mudd et al. (2022)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48640" y="640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BT8009: From Bench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Bedside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548640" y="1371600"/>
            <a:ext cx="1371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155448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Bicycle peptide (~4 kDa) + TATA scaffold + MMAE cytotoxin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 2.8 nM — antibody-like affinity at 1/30th the size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Near-complete tumor regression by Day 18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I/II clinical trial — most advanced in survey</a:t>
            </a:r>
            <a:endParaRPr lang="en-US" sz="1100" dirty="0"/>
          </a:p>
          <a:p>
            <a:pPr marL="342900" indent="-342900">
              <a:spcBef>
                <a:spcPts val="200"/>
              </a:spcBef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First-in-class bicycle toxin conjugate for Nectin-4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Mudd et al. (2022)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8229600" cy="1828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457200" y="274320"/>
            <a:ext cx="8229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 SHIFT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Oral Anticancer Peptide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 et al. (2025) — SFTI-G5 targets EGFR/HER2 and can be taken as a pill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25603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468880"/>
            <a:ext cx="2560320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 nM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IC50 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Calu-3 NSCLC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2468880"/>
            <a:ext cx="25603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46888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&gt;500x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47472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Selectivity over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cells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560320" cy="219456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468880"/>
            <a:ext cx="256032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ORAL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Bioavailability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in vivo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 et al. (2025)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10B981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Nanoparticles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Platforms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Peptide-functionalized nanocarriers for enhanced lung tumor delivery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&amp; Park et al. (2024)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Functionalized Peptides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Nanomedicine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strategies: targeting ligands, self-assembly, stimuli-responsive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highlight: CPP33 + ZIF-90 MOF + survivin siRNA + Oridonin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Dual-payload: gene therapy + chemotherapy in one nanoparticle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Preferential A549 uptake and tumor reduction in vivo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Platforms: MOFs, gold NPs, mesoporous silica, liposomes, polymeric NPs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3-in-1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CPP33 + siRNA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Oridonin in a single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nanoparticle system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&amp; Park et al. (2024)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et al. (2025)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Engineered Nanocarriers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Lung Cancer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Comprehensive: liposomes, PLGA, dendrimers, exosomes, inorganic NPs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T-DXd: ~55% response in HER2-mutant NSCLC (approved)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Emerging: inhalable NP systems for direct pulmonary deposition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Stimuli-responsive: pH, enzyme, hypoxia-triggered release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Inhalable delivery bypasses systemic circulation entirely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~55%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T-DXd response rate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HER2-mutant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 (approved)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et al. (2025)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A78BF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Design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and machine learning are reshaping peptide discovery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Anticancer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 Discovery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37160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37360"/>
            <a:ext cx="2560320" cy="2011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9202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reviewed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737360"/>
            <a:ext cx="2560320" cy="2011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9202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47472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types: SVM,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CNN, LSTM,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Transformer, LLM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2011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9202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30936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AI-discovered ACPs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trials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977640"/>
            <a:ext cx="54864" cy="8229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776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hype is real, but the validation gap is equally real. Most models lack wet-lab confirmation.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et al. (2025)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Chowdhury et al. (2025)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Molecular Chimera: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Grafted Stable Peptides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scaffolds (cyclotides, SFTI-1) grafted with cancer epitopes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Cyclotides: 28-37 aa, cyclic cystine knot, 3 disulfide bonds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SFTI-1: 14 aa bicyclic — the scaffold behind Singh's SFTI-G5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Targets: EGFR, HER2, PD-L1, VEGF, integrins, p53-HDM2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group (Jois lab, LSU) as Singh 2025 — theory meets practice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ORAL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stability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oral delivery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validated by SFTI-G5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Chowdhury et al. (2025)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BBF24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Landscape Papers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reviews providing the broader context for the field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Karankar et al. (2025)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Peptide-Driven Strategies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Lung Cancer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371600" cy="0"/>
          </a:xfrm>
          <a:prstGeom prst="line">
            <a:avLst/>
          </a:prstGeom>
          <a:noFill/>
          <a:ln w="1905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peptides against 6 driver mutations: EGFR, TP53, BRAF, MET, ROS1, ALK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peptides: GE11 (EGFR), p28 (p53), NKTP-3 (KRAS G12D)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Peptides as bridge between small-molecule TKIs and antibodies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for TKI-resistant tumors — growing clinical need</a:t>
            </a:r>
            <a:endParaRPr lang="en-US" sz="1200" dirty="0"/>
          </a:p>
          <a:p>
            <a:pPr marL="342900" indent="-342900">
              <a:spcBef>
                <a:spcPts val="200"/>
              </a:spcBef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zero peptides targeting ALK, ROS1, or MET fusions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2377440" cy="256032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097280"/>
            <a:ext cx="2377440" cy="5486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4630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peptides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ALK, ROS1,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MET fusions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Karankar et al. (2025) | Cancer-Targeting Peptides Literature Survey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4114800" cy="4297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4114800" cy="5486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Karati et al. (2025)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 Drugs &amp;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Chemoresistance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0"/>
          </a:xfrm>
          <a:prstGeom prst="line">
            <a:avLst/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ACPs bypass P-glycoprotein efflux via membrane disruption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Fundamentally different mechanism from conventional drugs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Targets DNA repair, EMT, apoptosis evasion simultaneously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Challenge: short half-life remains primary limitation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274320"/>
            <a:ext cx="4114800" cy="4297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274320"/>
            <a:ext cx="41148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et al. (2023)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822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Peptide-Based Agents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Cancer Treatment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1097280" cy="0"/>
          </a:xfrm>
          <a:prstGeom prst="line">
            <a:avLst/>
          </a:prstGeom>
          <a:noFill/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7373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Broadest scope: 56 pre-clinical + 10 clinical-stage peptides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Clinical: LUNA18 (KRAS), p28 (p53), ALRN-6924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Lung: NKTP-3, KRpep-2d, 99mTc-3PRGD2 imaging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FDA history: Leuprorelin (1985) → Carfilzomib (2012)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4114800" cy="4297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41148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Alamdari-palangi et al. (2023)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Peptide-Agent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Conjugates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0"/>
          </a:xfrm>
          <a:prstGeom prst="line">
            <a:avLst/>
          </a:prstGeom>
          <a:noFill/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PDC landscape: design principles &amp; linker chemistry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28 clinical trials cataloged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60+ approved peptide therapeutics; 12 FDA/EMA cancer drugs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BT8009 featured as key next-gen 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274320"/>
            <a:ext cx="4114800" cy="42976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274320"/>
            <a:ext cx="4114800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Bauso et al.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822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 &amp; Synthetic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Anticancer Peptides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1097280" cy="0"/>
          </a:xfrm>
          <a:prstGeom prst="line">
            <a:avLst/>
          </a:prstGeom>
          <a:noFill/>
          <a:ln w="12700">
            <a:solidFill>
              <a:srgbClr val="FB92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7373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ACPs across 10 cancer types; 7 lung peptides cataloged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MANS, FCHO1, TMEM39AS41, MP06, AC-P19M, DTX-P7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&gt;1,000 clinical trials using ACPs globally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</a:rPr>
              <a:t>AC-P19M: 5x more toxic to cancer vs normal cells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2743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B7185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Cross-Cutting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gaps, and opportunities across all 19 papers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Evolution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2014 → 2025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097280"/>
            <a:ext cx="0" cy="329184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1234440"/>
            <a:ext cx="365760" cy="36576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Shape 4"/>
          <p:cNvSpPr/>
          <p:nvPr/>
        </p:nvSpPr>
        <p:spPr>
          <a:xfrm>
            <a:off x="1645920" y="1097280"/>
            <a:ext cx="694944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1097280"/>
            <a:ext cx="54864" cy="54864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Phage Display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2024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0" y="1097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Cell-based biopanning, iterative selection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0" y="1097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McGuire, Chi, Bakhshinejad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1874520"/>
            <a:ext cx="365760" cy="36576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5920" y="1737360"/>
            <a:ext cx="694944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920" y="1737360"/>
            <a:ext cx="54864" cy="5486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192024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+ Computation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2011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4048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Phage display + sequencing; virtual screening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0" y="17373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Furman, Zhou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2514600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0" name="Shape 18"/>
          <p:cNvSpPr/>
          <p:nvPr/>
        </p:nvSpPr>
        <p:spPr>
          <a:xfrm>
            <a:off x="1645920" y="2377440"/>
            <a:ext cx="694944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2377440"/>
            <a:ext cx="54864" cy="5486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Text 20"/>
          <p:cNvSpPr/>
          <p:nvPr/>
        </p:nvSpPr>
        <p:spPr>
          <a:xfrm>
            <a:off x="19202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Novo AI Design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920240" y="2651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4048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AI-predicted sequences; rational amphiphilic design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Shin, Yang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4400" y="315468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7" name="Shape 25"/>
          <p:cNvSpPr/>
          <p:nvPr/>
        </p:nvSpPr>
        <p:spPr>
          <a:xfrm>
            <a:off x="1645920" y="3017520"/>
            <a:ext cx="694944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1645920" y="3017520"/>
            <a:ext cx="54864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192024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Engineering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92024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84048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scaffolds grafted with targeting epitopes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Singh, Chowdhury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4" name="Shape 32"/>
          <p:cNvSpPr/>
          <p:nvPr/>
        </p:nvSpPr>
        <p:spPr>
          <a:xfrm>
            <a:off x="1645920" y="3657600"/>
            <a:ext cx="694944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35" name="Shape 33"/>
          <p:cNvSpPr/>
          <p:nvPr/>
        </p:nvSpPr>
        <p:spPr>
          <a:xfrm>
            <a:off x="1645920" y="3657600"/>
            <a:ext cx="54864" cy="54864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6" name="Text 34"/>
          <p:cNvSpPr/>
          <p:nvPr/>
        </p:nvSpPr>
        <p:spPr>
          <a:xfrm>
            <a:off x="192024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at Scale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920240" y="3931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840480" y="3657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models; language models; end-to-end frameworks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58000" y="3657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645920" y="4389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screening  →  Rational, computationally guided design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Landscape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2926080"/>
                <a:gridCol w="2468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Advanced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8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 / HER2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SFTI-G5 (oral, 73 nM)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Pre-clinical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Nectin-4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BT8009-MMAE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I/II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KRAS G12D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NKTP-3, LUNA18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I/II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p53 / HDM2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p28 (azurin)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PD-1 / PD-L1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Cyclotide grafts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D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KRAS G12C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ALK / ROS1 / MET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B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02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4206240"/>
            <a:ext cx="54864" cy="54864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4206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KRAS G12C (most common in smokers) and ALK/ROS1/MET fusions = significant unmet needs with zero peptides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Performers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Efficacy Across the Survey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560320" cy="45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pM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Binding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McGuire tetramers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188720"/>
            <a:ext cx="25603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371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9.4 nM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IC50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MGS4_V8-saporin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8872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3716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 nM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Free Peptide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SFTI-G5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1752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-81.6%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Reduction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K4F6K4 (Day 28)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30175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3017520"/>
            <a:ext cx="256032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+47 d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47472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Extension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HSP4-PLD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3017520"/>
            <a:ext cx="2560320" cy="155448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3017520"/>
            <a:ext cx="256032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&gt;500x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30936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SFTI-G5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Translation Pipeline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772400" cy="64008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7772400" cy="640080"/>
          </a:xfrm>
          <a:prstGeom prst="rect">
            <a:avLst/>
          </a:prstGeom>
          <a:solidFill>
            <a:srgbClr val="94A3B8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7772400" cy="457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/ In Vitro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389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LCP1, AC-P19M, P6/P9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0972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papers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7772400" cy="64008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011680"/>
            <a:ext cx="5486400" cy="640080"/>
          </a:xfrm>
          <a:prstGeom prst="rect">
            <a:avLst/>
          </a:prstGeom>
          <a:solidFill>
            <a:srgbClr val="14B8A6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011680"/>
            <a:ext cx="548640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 Xenograft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304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HSP4, K4F6K4, NKTP-3, MGS4_V8, SFTI-G5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0" y="2011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papers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926080"/>
            <a:ext cx="7772400" cy="64008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926080"/>
            <a:ext cx="1828800" cy="640080"/>
          </a:xfrm>
          <a:prstGeom prst="rect">
            <a:avLst/>
          </a:prstGeom>
          <a:solidFill>
            <a:srgbClr val="10B981">
              <a:alpha val="4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2926080"/>
            <a:ext cx="18288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32186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BT8009 (Phase I/II)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0" y="29260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paper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840480"/>
            <a:ext cx="7772400" cy="64008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840480"/>
            <a:ext cx="914400" cy="640080"/>
          </a:xfrm>
          <a:prstGeom prst="rect">
            <a:avLst/>
          </a:prstGeom>
          <a:solidFill>
            <a:srgbClr val="A78BFA">
              <a:alpha val="4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3840480"/>
            <a:ext cx="91440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Computational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4133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models → 0 clinical validation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840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paper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4206240"/>
            <a:ext cx="54864" cy="54864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206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heavily front-loaded — discovery is outpacing clinical translation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Gaps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274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Field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KRAS G12C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17520" y="1005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KRAS mutation in NSCLC smokers — zero peptides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55448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54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Chi 2017 addresses it; aggressive, no targeted therapies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10312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10312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 / ROS1 / MET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1752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Mentioned in reviews but zero experimental peptides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6517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Orthotopic Models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2651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 of 19 papers uses lung-specific tumor model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20040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200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comparison with standard-of-care antibodies or TKIs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74904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17520" y="3749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models, most without wet-lab confirmation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112D4A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97680"/>
            <a:ext cx="54864" cy="457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Immunotherapy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studies combining peptides with checkpoint inhibitors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Emerging Opportunities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24128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96012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Peptide Therapeutics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5272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SFTI-G5 proves it's possible — generalizing scaffold grafting transforms compliance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685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19072"/>
            <a:ext cx="54864" cy="6858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AI-to-Clinic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0574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AI-discovered ACP in clinical trials validates the computational field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8229600" cy="685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523744"/>
            <a:ext cx="54864" cy="6858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633472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256946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Peptide-Immunotherapy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286207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PD-L1 cyclotide grafts could synergize with checkpoint inhibitors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28416"/>
            <a:ext cx="8229600" cy="685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28416"/>
            <a:ext cx="54864" cy="6858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3438144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33741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Inhalable Delivery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3666744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pulmonary deposition bypasses systemic distribution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685800"/>
          </a:xfrm>
          <a:prstGeom prst="rect">
            <a:avLst/>
          </a:prstGeom>
          <a:solidFill>
            <a:srgbClr val="112D4A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4133088"/>
            <a:ext cx="54864" cy="6858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242816"/>
            <a:ext cx="457200" cy="45720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371600" y="4178808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Dual-Target Peptides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44714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NKTP-3 proved surface + intracellular targeting is feasible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874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Cancer-Targeting Peptides for Lung Cancer | Literature Survey 2014–2025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4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274320"/>
            <a:ext cx="731520" cy="73152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1097280"/>
            <a:ext cx="457200" cy="45720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1371600"/>
            <a:ext cx="320040" cy="320040"/>
          </a:xfrm>
          <a:prstGeom prst="ellipse">
            <a:avLst/>
          </a:prstGeom>
          <a:solidFill>
            <a:srgbClr val="22D3EE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Papers Surveyed (2014–2025)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1828800" cy="0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7160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McGuire et al. (2014) Sci Rep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Chi et al. (2017) Theranostics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Bakhshinejad et al. (2018) IJPR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Furman et al. (2022) Pharmaceutics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Zhou et al. (2022) JACS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Shin et al. (2022) IJMS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Yang et al. (2022) Pharmaceutics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Mudd et al. (2022) J Med Chem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Nhan et al. (2023) IJMS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Alamdari et al. (2023) JCRC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Allred et al. (2023) Commun Biol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Bauso et al. (2024) IJMS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Kim &amp; Park (2024) Biomedicines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Singh et al. (2025) ACS PTS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Lee et al. (2025) Explor TAT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Wu et al. (2025) iMetaOmics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Chowdhury et al. (2025) IJPRT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Karankar et al. (2025) Life Sci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Karati et al. (2025) IJPRT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Cancer-Targeting Peptides for Lung Cancer (2014-2025)</dc:title>
  <dc:subject>PptxGenJS Presentation</dc:subject>
  <dc:creator>Cancer Peptides Literature Survey</dc:creator>
  <cp:lastModifiedBy>Cancer Peptides Literature Survey</cp:lastModifiedBy>
  <cp:revision>1</cp:revision>
  <dcterms:created xsi:type="dcterms:W3CDTF">2026-03-13T13:01:46Z</dcterms:created>
  <dcterms:modified xsi:type="dcterms:W3CDTF">2026-03-13T13:01:46Z</dcterms:modified>
</cp:coreProperties>
</file>