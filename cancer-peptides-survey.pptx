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I'll be presenting a literature survey on cancer-targeting peptides for lung cancer — spanning a decade of research from 2014 to 2025. This survey covers 19 papers across the full spectrum: from peptide discovery and direct anticancer activity, through drug conjugates and nanoparticle delivery, all the way to the latest AI-driven design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We'll move through seven sections. We start with how peptides are discovered and engineered to target lung cancer cells. Then we look at peptides that kill cancer directly. Next, peptide-drug conjugates. Then nanoparticle platforms. After that, the computational and AI side. We'll cover the major review papers, and finally, a cross-cutting analysis tying everything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foundation — how do we find peptides that specifically recognize and bind to lung cancer cells? The primary workhorse here has been phage display biopanning, a technique where billions of random peptide sequences are screened against live cancer cells to identify the best binders.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starts in 2014 with McGuire and colleagues at SRI International. They screened three phage display libraries against live NSCLC cells. Out of this, they identified 11 novel peptides. What made this study stand out was the scale of validation — they tested binding across a panel of 40 cell lines and found that binding patterns correlate with EGFR and KRAS genotype. Their best tetrameric constructs achieved binding affinities as tight as 7 picomolar. This paper laid the groundwork.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et al. used phage display on H460 cells and identified three peptides. What's unique is that these peptides work across both SCLC and NSCLC — four subtypes total. When they conjugated HSP4 to liposomal doxorubicin, treated mice survived 131 days vs 84 for controls. They also demonstrated theranostic use with MRI. This is the only paper using an orthotopic lung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Bakhshinejad identified LCP1, a short 7-mer peptide with a selectivity index of 5.1 for A549 lung cancer over normal lung cells. It showed no binding to other cancer types, suggesting genuine lung specificity. Early-stage work, but demonstrates even very short peptides can achieve tissue-specific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Furman et al. represent the next evolution. They combined phage display with next-generation sequencing — screening over 617,000 sequences computationally. Their cyclic peptide P9, when conjugated to camptothecin, was 2-3 times more cytotoxic than the free drug.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Zhou et al. achieved something no one else did — dual targeting. NKTP-3 binds NRP1 on the cell surface to get inside, then targets intracellular KRAS G12D. It's selective for G12D over wild-type and other KRAS mutants. Strong antitumor activity in vivo with no obvious toxicity.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McGuire 2014? This is the payoff — same group, nearly a decade later. They optimized their original peptide to MGS4_V8 with an IC50 of 9.4 nanomolar with saporin. In mice, 25-40 fold tumor accumulation and about 50% tumor reduction. A textbook example of iterative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shift from peptides that target to peptides that kill. These are anticancer peptides where the peptide itself is the therapeutic, not just a delivery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Shin et al. used AI prediction tools to computationally design a peptide from scratch. AC-P19M kills lung cancer cells at IC50s of 10-15 micromolar with zero toxicity to normal cells up to 100 micromolar. What's remarkable is the multi-mechanism activity — apoptosis, membrane disruption, VEGFR2 suppression, and anti-EMT all in one peptide.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et al. took a completely different approach — a simple triblock peptide of 14 residues. In vivo, this achieved 81.6% tumor volume reduction at Day 28 with 12.9-fold selectivity over normal cells. The simplicity is the point — fundamentally different from receptor-based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peptide-drug conjugates — PDCs — where peptides serve as guided missiles delivering cytotoxic payloads directly to cancer cells. Think of these as the peptide equivalent of antibody-drug conjugates, but at a fraction of the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BT8009 is the star of this survey. At just 4 kilodaltons, it achieves antibody-like affinity for Nectin-4. Near-complete tumor regression by Day 18. And it's in Phase I/II clinical trials — the most clinically advanced peptide therapeutic in our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Singh et al. may have achieved the biggest paradigm shift. SFTI-G5 has IC50 of 73 nanomolar with over 500-fold selectivity. But the breakthrough is oral bioavailability — the SFTI scaffold protects against gut digestion. Imagine taking an anticancer peptide as a 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covers the nanoparticle angle — how peptides are being integrated into nanocarrier systems for enhanced delivery to lung tumors.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 and Park reviewed three strategies: peptides as targeting ligands on nanoparticle surfaces, self-assembling peptide nanostructures, and stimuli-responsive peptide systems. The lung cancer highlight was CPP33 loaded onto a ZIF-90 metal-organic framework carrying both survivin siRNA and Oridonin.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et al. provided the most comprehensive nanocarrier review. The clinical highlight is T-DXd with about 55% response rate in HER2-mutant NSCLC. The emerging trend they identify is inhalable nanoparticle systems — direct pulmonary deposition that bypasses systemic circulation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looks at the computational revolution — how AI and machine learning are reshaping peptide design and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Wu et al. reviewed 68 AI-based ACP prediction models spanning SVMs to protein language models. They propose a four-stage framework. The critical gap: most of these 68 models lack experimental validation. No AI-discovered ACP has reached clinical trials yet. The AI hype is real, but the validation gap is equally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Chowdhury et al. provide the theoretical framework behind Singh's SFTI-G5. The concept is molecular chimeras: take plant-derived scaffolds like cyclotides and graft in cancer-targeting epitopes. The scaffold provides stability while the grafted loop provides target specificity. This is the blueprint for next-gen orally available peptide therapeutics.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covers five review papers that provide the broader context for everything we've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Karankar et al. mapped peptides against six NSCLC driver mutations. Their key insight: peptides occupy a sweet spot between small-molecule TKIs and large antibodies. But notably, they found zero experimental peptides targeting ALK, ROS1, or MET fusions — a clear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Karati et al. focused on chemoresistance — ACPs bypass P-glycoprotein efflux through membrane disruption, fundamentally different from conventional drugs. Nhan et al. provided the broadest scope — 56 pre-clinical and 10 clinical-stage peptides, with FDA history going back to Leuprorelin in 1985.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Alamdari-palangi cataloged 28 clinical trials of peptide-drug conjugates, highlighting BT8009. Bauso et al. cataloged seven lung cancer peptides with full sequences and noted over 1,000 clinical trials using ACPs are ongoing globally.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step back and look at the patterns across all 19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has evolved through distinct eras. Classic phage display in 2014-2018, then NGS merged with phage display in 2022, de novo AI design in 2022, scaffold engineering by 2025, and large-scale AI models by 2025. The trajectory is clear — from empirical screening toward rational, computationally guided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molecular targets: EGFR and HER2 appear in 8 papers. Nectin-4 has BT8009 in Phase I/II trials. KRAS G12D is covered by 4 papers. But look at the gaps: zero peptides targeting KRAS G12C — the most common KRAS mutation in NSCLC smokers — and zero for ALK, ROS1, or MET fusions.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headline numbers. Best binding: 7 picomolar. Best cytotoxicity: 9.4 nanomolar. Best tumor reduction: 81.6%. Longest survival extension: 47 days. Best selectivity: over 500-fold. These are compelling numbers that rival antibody-drug conjugates.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everything stand? Most papers remain at discovery stage. Six papers have in vivo xenograft data. Only BT8009 has reached clinical trials. And the AI space has zero clinical validation. The pipeline is heavily front-loaded — discovery is outpacing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gaps: KRAS G12C with no peptide solution. SCLC addressed by only one paper. No head-to-head comparisons with standard of care. No combination studies with immunotherapy. Only one orthotopic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opportunities: 1) Oral peptide therapeutics. 2) AI-to-clinic validation. 3) Peptide-immunotherapy combinations. 4) Inhalable delivery. 5) Dual-target peptides.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19 papers are listed here. Thank you for your attention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731520" y="914400"/>
            <a:ext cx="7680960" cy="2011680"/>
          </a:xfrm>
          <a:prstGeom prst="rect">
            <a:avLst/>
          </a:prstGeom>
          <a:noFill/>
          <a:ln/>
        </p:spPr>
        <p:txBody>
          <a:bodyPr wrap="square" lIns="0" tIns="0" rIns="0" bIns="0" rtlCol="0" anchor="ctr"/>
          <a:lstStyle/>
          <a:p>
            <a:pPr indent="0" marL="0">
              <a:lnSpc>
                <a:spcPct val="120000"/>
              </a:lnSpc>
              <a:buNone/>
            </a:pPr>
            <a:r>
              <a:rPr lang="en-US" sz="4000" b="1" dirty="0">
                <a:solidFill>
                  <a:srgbClr val="FFFFFF"/>
                </a:solidFill>
                <a:latin typeface="Georgia" pitchFamily="34" charset="0"/>
                <a:ea typeface="Georgia" pitchFamily="34" charset="-122"/>
                <a:cs typeface="Georgia" pitchFamily="34" charset="-120"/>
              </a:rPr>
              <a:t>Cancer-Targeting Peptides</a:t>
            </a:r>
            <a:endParaRPr lang="en-US" sz="4000" dirty="0"/>
          </a:p>
          <a:p>
            <a:pPr indent="0" marL="0">
              <a:lnSpc>
                <a:spcPct val="120000"/>
              </a:lnSpc>
              <a:buNone/>
            </a:pPr>
            <a:r>
              <a:rPr lang="en-US" sz="4000" b="1" dirty="0">
                <a:solidFill>
                  <a:srgbClr val="FFFFFF"/>
                </a:solidFill>
                <a:latin typeface="Georgia" pitchFamily="34" charset="0"/>
                <a:ea typeface="Georgia" pitchFamily="34" charset="-122"/>
                <a:cs typeface="Georgia" pitchFamily="34" charset="-120"/>
              </a:rPr>
              <a:t>for Lung Cancer</a:t>
            </a:r>
            <a:endParaRPr lang="en-US" sz="4000" dirty="0"/>
          </a:p>
        </p:txBody>
      </p:sp>
      <p:sp>
        <p:nvSpPr>
          <p:cNvPr id="4" name="Text 2"/>
          <p:cNvSpPr/>
          <p:nvPr/>
        </p:nvSpPr>
        <p:spPr>
          <a:xfrm>
            <a:off x="731520" y="2926080"/>
            <a:ext cx="7680960" cy="548640"/>
          </a:xfrm>
          <a:prstGeom prst="rect">
            <a:avLst/>
          </a:prstGeom>
          <a:noFill/>
          <a:ln/>
        </p:spPr>
        <p:txBody>
          <a:bodyPr wrap="square" lIns="0" tIns="0" rIns="0" bIns="0" rtlCol="0" anchor="ctr"/>
          <a:lstStyle/>
          <a:p>
            <a:pPr indent="0" marL="0">
              <a:buNone/>
            </a:pPr>
            <a:r>
              <a:rPr lang="en-US" sz="2000" dirty="0">
                <a:solidFill>
                  <a:srgbClr val="0EA5E9"/>
                </a:solidFill>
                <a:latin typeface="Calibri" pitchFamily="34" charset="0"/>
                <a:ea typeface="Calibri" pitchFamily="34" charset="-122"/>
                <a:cs typeface="Calibri" pitchFamily="34" charset="-120"/>
              </a:rPr>
              <a:t>A Literature Survey of 19 Papers (2014–2025)</a:t>
            </a:r>
            <a:endParaRPr lang="en-US" sz="2000" dirty="0"/>
          </a:p>
        </p:txBody>
      </p:sp>
      <p:sp>
        <p:nvSpPr>
          <p:cNvPr id="5" name="Shape 3"/>
          <p:cNvSpPr/>
          <p:nvPr/>
        </p:nvSpPr>
        <p:spPr>
          <a:xfrm>
            <a:off x="731520" y="3657600"/>
            <a:ext cx="2743200" cy="0"/>
          </a:xfrm>
          <a:prstGeom prst="line">
            <a:avLst/>
          </a:prstGeom>
          <a:noFill/>
          <a:ln w="25400">
            <a:solidFill>
              <a:srgbClr val="1C7293"/>
            </a:solidFill>
            <a:prstDash val="solid"/>
          </a:ln>
        </p:spPr>
      </p:sp>
      <p:sp>
        <p:nvSpPr>
          <p:cNvPr id="6" name="Text 4"/>
          <p:cNvSpPr/>
          <p:nvPr/>
        </p:nvSpPr>
        <p:spPr>
          <a:xfrm>
            <a:off x="731520" y="3931920"/>
            <a:ext cx="768096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Peptide Discovery  |  Anticancer Activity  |  Drug Conjugates  |  Nanoparticles  |  AI Design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Contents</a:t>
            </a:r>
            <a:endParaRPr lang="en-US" sz="3200" dirty="0"/>
          </a:p>
        </p:txBody>
      </p:sp>
      <p:sp>
        <p:nvSpPr>
          <p:cNvPr id="3" name="Shape 1"/>
          <p:cNvSpPr/>
          <p:nvPr/>
        </p:nvSpPr>
        <p:spPr>
          <a:xfrm>
            <a:off x="731520" y="1051560"/>
            <a:ext cx="1828800" cy="0"/>
          </a:xfrm>
          <a:prstGeom prst="line">
            <a:avLst/>
          </a:prstGeom>
          <a:noFill/>
          <a:ln w="25400">
            <a:solidFill>
              <a:srgbClr val="0EA5E9"/>
            </a:solidFill>
            <a:prstDash val="solid"/>
          </a:ln>
        </p:spPr>
      </p:sp>
      <p:sp>
        <p:nvSpPr>
          <p:cNvPr id="4" name="Text 2"/>
          <p:cNvSpPr/>
          <p:nvPr/>
        </p:nvSpPr>
        <p:spPr>
          <a:xfrm>
            <a:off x="731520" y="1371600"/>
            <a:ext cx="548640" cy="411480"/>
          </a:xfrm>
          <a:prstGeom prst="rect">
            <a:avLst/>
          </a:prstGeom>
          <a:noFill/>
          <a:ln/>
        </p:spPr>
        <p:txBody>
          <a:bodyPr wrap="square" lIns="0" tIns="0" rIns="0" bIns="0" rtlCol="0" anchor="ctr"/>
          <a:lstStyle/>
          <a:p>
            <a:pPr indent="0" marL="0">
              <a:buNone/>
            </a:pPr>
            <a:r>
              <a:rPr lang="en-US" sz="1600" b="1" dirty="0">
                <a:solidFill>
                  <a:srgbClr val="0EA5E9"/>
                </a:solidFill>
                <a:latin typeface="Calibri" pitchFamily="34" charset="0"/>
                <a:ea typeface="Calibri" pitchFamily="34" charset="-122"/>
                <a:cs typeface="Calibri" pitchFamily="34" charset="-120"/>
              </a:rPr>
              <a:t>01</a:t>
            </a:r>
            <a:endParaRPr lang="en-US" sz="1600" dirty="0"/>
          </a:p>
        </p:txBody>
      </p:sp>
      <p:sp>
        <p:nvSpPr>
          <p:cNvPr id="5" name="Text 3"/>
          <p:cNvSpPr/>
          <p:nvPr/>
        </p:nvSpPr>
        <p:spPr>
          <a:xfrm>
            <a:off x="1371600" y="1371600"/>
            <a:ext cx="5486400" cy="4114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Peptide Discovery and Targeting</a:t>
            </a:r>
            <a:endParaRPr lang="en-US" sz="1600" dirty="0"/>
          </a:p>
        </p:txBody>
      </p:sp>
      <p:sp>
        <p:nvSpPr>
          <p:cNvPr id="6" name="Text 4"/>
          <p:cNvSpPr/>
          <p:nvPr/>
        </p:nvSpPr>
        <p:spPr>
          <a:xfrm>
            <a:off x="7132320" y="1371600"/>
            <a:ext cx="1371600" cy="411480"/>
          </a:xfrm>
          <a:prstGeom prst="rect">
            <a:avLst/>
          </a:prstGeom>
          <a:noFill/>
          <a:ln/>
        </p:spPr>
        <p:txBody>
          <a:bodyPr wrap="square" lIns="0" tIns="0" rIns="0" bIns="0" rtlCol="0" anchor="ctr"/>
          <a:lstStyle/>
          <a:p>
            <a:pPr algn="r" indent="0" marL="0">
              <a:buNone/>
            </a:pPr>
            <a:r>
              <a:rPr lang="en-US" sz="1200" dirty="0">
                <a:solidFill>
                  <a:srgbClr val="94A3B8"/>
                </a:solidFill>
                <a:latin typeface="Calibri" pitchFamily="34" charset="0"/>
                <a:ea typeface="Calibri" pitchFamily="34" charset="-122"/>
                <a:cs typeface="Calibri" pitchFamily="34" charset="-120"/>
              </a:rPr>
              <a:t>6 papers</a:t>
            </a:r>
            <a:endParaRPr lang="en-US" sz="1200" dirty="0"/>
          </a:p>
        </p:txBody>
      </p:sp>
      <p:sp>
        <p:nvSpPr>
          <p:cNvPr id="7" name="Text 5"/>
          <p:cNvSpPr/>
          <p:nvPr/>
        </p:nvSpPr>
        <p:spPr>
          <a:xfrm>
            <a:off x="731520" y="1874520"/>
            <a:ext cx="548640" cy="411480"/>
          </a:xfrm>
          <a:prstGeom prst="rect">
            <a:avLst/>
          </a:prstGeom>
          <a:noFill/>
          <a:ln/>
        </p:spPr>
        <p:txBody>
          <a:bodyPr wrap="square" lIns="0" tIns="0" rIns="0" bIns="0" rtlCol="0" anchor="ctr"/>
          <a:lstStyle/>
          <a:p>
            <a:pPr indent="0" marL="0">
              <a:buNone/>
            </a:pPr>
            <a:r>
              <a:rPr lang="en-US" sz="1600" b="1" dirty="0">
                <a:solidFill>
                  <a:srgbClr val="0EA5E9"/>
                </a:solidFill>
                <a:latin typeface="Calibri" pitchFamily="34" charset="0"/>
                <a:ea typeface="Calibri" pitchFamily="34" charset="-122"/>
                <a:cs typeface="Calibri" pitchFamily="34" charset="-120"/>
              </a:rPr>
              <a:t>02</a:t>
            </a:r>
            <a:endParaRPr lang="en-US" sz="1600" dirty="0"/>
          </a:p>
        </p:txBody>
      </p:sp>
      <p:sp>
        <p:nvSpPr>
          <p:cNvPr id="8" name="Text 6"/>
          <p:cNvSpPr/>
          <p:nvPr/>
        </p:nvSpPr>
        <p:spPr>
          <a:xfrm>
            <a:off x="1371600" y="1874520"/>
            <a:ext cx="5486400" cy="4114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Anticancer Peptides with Direct Activity</a:t>
            </a:r>
            <a:endParaRPr lang="en-US" sz="1600" dirty="0"/>
          </a:p>
        </p:txBody>
      </p:sp>
      <p:sp>
        <p:nvSpPr>
          <p:cNvPr id="9" name="Text 7"/>
          <p:cNvSpPr/>
          <p:nvPr/>
        </p:nvSpPr>
        <p:spPr>
          <a:xfrm>
            <a:off x="7132320" y="1874520"/>
            <a:ext cx="1371600" cy="411480"/>
          </a:xfrm>
          <a:prstGeom prst="rect">
            <a:avLst/>
          </a:prstGeom>
          <a:noFill/>
          <a:ln/>
        </p:spPr>
        <p:txBody>
          <a:bodyPr wrap="square" lIns="0" tIns="0" rIns="0" bIns="0" rtlCol="0" anchor="ctr"/>
          <a:lstStyle/>
          <a:p>
            <a:pPr algn="r" indent="0" marL="0">
              <a:buNone/>
            </a:pPr>
            <a:r>
              <a:rPr lang="en-US" sz="1200" dirty="0">
                <a:solidFill>
                  <a:srgbClr val="94A3B8"/>
                </a:solidFill>
                <a:latin typeface="Calibri" pitchFamily="34" charset="0"/>
                <a:ea typeface="Calibri" pitchFamily="34" charset="-122"/>
                <a:cs typeface="Calibri" pitchFamily="34" charset="-120"/>
              </a:rPr>
              <a:t>2 papers</a:t>
            </a:r>
            <a:endParaRPr lang="en-US" sz="1200" dirty="0"/>
          </a:p>
        </p:txBody>
      </p:sp>
      <p:sp>
        <p:nvSpPr>
          <p:cNvPr id="10" name="Text 8"/>
          <p:cNvSpPr/>
          <p:nvPr/>
        </p:nvSpPr>
        <p:spPr>
          <a:xfrm>
            <a:off x="731520" y="2377440"/>
            <a:ext cx="548640" cy="411480"/>
          </a:xfrm>
          <a:prstGeom prst="rect">
            <a:avLst/>
          </a:prstGeom>
          <a:noFill/>
          <a:ln/>
        </p:spPr>
        <p:txBody>
          <a:bodyPr wrap="square" lIns="0" tIns="0" rIns="0" bIns="0" rtlCol="0" anchor="ctr"/>
          <a:lstStyle/>
          <a:p>
            <a:pPr indent="0" marL="0">
              <a:buNone/>
            </a:pPr>
            <a:r>
              <a:rPr lang="en-US" sz="1600" b="1" dirty="0">
                <a:solidFill>
                  <a:srgbClr val="0EA5E9"/>
                </a:solidFill>
                <a:latin typeface="Calibri" pitchFamily="34" charset="0"/>
                <a:ea typeface="Calibri" pitchFamily="34" charset="-122"/>
                <a:cs typeface="Calibri" pitchFamily="34" charset="-120"/>
              </a:rPr>
              <a:t>03</a:t>
            </a:r>
            <a:endParaRPr lang="en-US" sz="1600" dirty="0"/>
          </a:p>
        </p:txBody>
      </p:sp>
      <p:sp>
        <p:nvSpPr>
          <p:cNvPr id="11" name="Text 9"/>
          <p:cNvSpPr/>
          <p:nvPr/>
        </p:nvSpPr>
        <p:spPr>
          <a:xfrm>
            <a:off x="1371600" y="2377440"/>
            <a:ext cx="5486400" cy="4114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Peptide-Drug Conjugates and Delivery</a:t>
            </a:r>
            <a:endParaRPr lang="en-US" sz="1600" dirty="0"/>
          </a:p>
        </p:txBody>
      </p:sp>
      <p:sp>
        <p:nvSpPr>
          <p:cNvPr id="12" name="Text 10"/>
          <p:cNvSpPr/>
          <p:nvPr/>
        </p:nvSpPr>
        <p:spPr>
          <a:xfrm>
            <a:off x="7132320" y="2377440"/>
            <a:ext cx="1371600" cy="411480"/>
          </a:xfrm>
          <a:prstGeom prst="rect">
            <a:avLst/>
          </a:prstGeom>
          <a:noFill/>
          <a:ln/>
        </p:spPr>
        <p:txBody>
          <a:bodyPr wrap="square" lIns="0" tIns="0" rIns="0" bIns="0" rtlCol="0" anchor="ctr"/>
          <a:lstStyle/>
          <a:p>
            <a:pPr algn="r" indent="0" marL="0">
              <a:buNone/>
            </a:pPr>
            <a:r>
              <a:rPr lang="en-US" sz="1200" dirty="0">
                <a:solidFill>
                  <a:srgbClr val="94A3B8"/>
                </a:solidFill>
                <a:latin typeface="Calibri" pitchFamily="34" charset="0"/>
                <a:ea typeface="Calibri" pitchFamily="34" charset="-122"/>
                <a:cs typeface="Calibri" pitchFamily="34" charset="-120"/>
              </a:rPr>
              <a:t>2 papers</a:t>
            </a:r>
            <a:endParaRPr lang="en-US" sz="1200" dirty="0"/>
          </a:p>
        </p:txBody>
      </p:sp>
      <p:sp>
        <p:nvSpPr>
          <p:cNvPr id="13" name="Text 11"/>
          <p:cNvSpPr/>
          <p:nvPr/>
        </p:nvSpPr>
        <p:spPr>
          <a:xfrm>
            <a:off x="731520" y="2880360"/>
            <a:ext cx="548640" cy="411480"/>
          </a:xfrm>
          <a:prstGeom prst="rect">
            <a:avLst/>
          </a:prstGeom>
          <a:noFill/>
          <a:ln/>
        </p:spPr>
        <p:txBody>
          <a:bodyPr wrap="square" lIns="0" tIns="0" rIns="0" bIns="0" rtlCol="0" anchor="ctr"/>
          <a:lstStyle/>
          <a:p>
            <a:pPr indent="0" marL="0">
              <a:buNone/>
            </a:pPr>
            <a:r>
              <a:rPr lang="en-US" sz="1600" b="1" dirty="0">
                <a:solidFill>
                  <a:srgbClr val="0EA5E9"/>
                </a:solidFill>
                <a:latin typeface="Calibri" pitchFamily="34" charset="0"/>
                <a:ea typeface="Calibri" pitchFamily="34" charset="-122"/>
                <a:cs typeface="Calibri" pitchFamily="34" charset="-120"/>
              </a:rPr>
              <a:t>04</a:t>
            </a:r>
            <a:endParaRPr lang="en-US" sz="1600" dirty="0"/>
          </a:p>
        </p:txBody>
      </p:sp>
      <p:sp>
        <p:nvSpPr>
          <p:cNvPr id="14" name="Text 12"/>
          <p:cNvSpPr/>
          <p:nvPr/>
        </p:nvSpPr>
        <p:spPr>
          <a:xfrm>
            <a:off x="1371600" y="2880360"/>
            <a:ext cx="5486400" cy="4114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Nanoparticles and Delivery Platforms</a:t>
            </a:r>
            <a:endParaRPr lang="en-US" sz="1600" dirty="0"/>
          </a:p>
        </p:txBody>
      </p:sp>
      <p:sp>
        <p:nvSpPr>
          <p:cNvPr id="15" name="Text 13"/>
          <p:cNvSpPr/>
          <p:nvPr/>
        </p:nvSpPr>
        <p:spPr>
          <a:xfrm>
            <a:off x="7132320" y="2880360"/>
            <a:ext cx="1371600" cy="411480"/>
          </a:xfrm>
          <a:prstGeom prst="rect">
            <a:avLst/>
          </a:prstGeom>
          <a:noFill/>
          <a:ln/>
        </p:spPr>
        <p:txBody>
          <a:bodyPr wrap="square" lIns="0" tIns="0" rIns="0" bIns="0" rtlCol="0" anchor="ctr"/>
          <a:lstStyle/>
          <a:p>
            <a:pPr algn="r" indent="0" marL="0">
              <a:buNone/>
            </a:pPr>
            <a:r>
              <a:rPr lang="en-US" sz="1200" dirty="0">
                <a:solidFill>
                  <a:srgbClr val="94A3B8"/>
                </a:solidFill>
                <a:latin typeface="Calibri" pitchFamily="34" charset="0"/>
                <a:ea typeface="Calibri" pitchFamily="34" charset="-122"/>
                <a:cs typeface="Calibri" pitchFamily="34" charset="-120"/>
              </a:rPr>
              <a:t>2 papers</a:t>
            </a:r>
            <a:endParaRPr lang="en-US" sz="1200" dirty="0"/>
          </a:p>
        </p:txBody>
      </p:sp>
      <p:sp>
        <p:nvSpPr>
          <p:cNvPr id="16" name="Text 14"/>
          <p:cNvSpPr/>
          <p:nvPr/>
        </p:nvSpPr>
        <p:spPr>
          <a:xfrm>
            <a:off x="731520" y="3383280"/>
            <a:ext cx="548640" cy="411480"/>
          </a:xfrm>
          <a:prstGeom prst="rect">
            <a:avLst/>
          </a:prstGeom>
          <a:noFill/>
          <a:ln/>
        </p:spPr>
        <p:txBody>
          <a:bodyPr wrap="square" lIns="0" tIns="0" rIns="0" bIns="0" rtlCol="0" anchor="ctr"/>
          <a:lstStyle/>
          <a:p>
            <a:pPr indent="0" marL="0">
              <a:buNone/>
            </a:pPr>
            <a:r>
              <a:rPr lang="en-US" sz="1600" b="1" dirty="0">
                <a:solidFill>
                  <a:srgbClr val="0EA5E9"/>
                </a:solidFill>
                <a:latin typeface="Calibri" pitchFamily="34" charset="0"/>
                <a:ea typeface="Calibri" pitchFamily="34" charset="-122"/>
                <a:cs typeface="Calibri" pitchFamily="34" charset="-120"/>
              </a:rPr>
              <a:t>05</a:t>
            </a:r>
            <a:endParaRPr lang="en-US" sz="1600" dirty="0"/>
          </a:p>
        </p:txBody>
      </p:sp>
      <p:sp>
        <p:nvSpPr>
          <p:cNvPr id="17" name="Text 15"/>
          <p:cNvSpPr/>
          <p:nvPr/>
        </p:nvSpPr>
        <p:spPr>
          <a:xfrm>
            <a:off x="1371600" y="3383280"/>
            <a:ext cx="5486400" cy="4114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Computational and AI-Driven Design</a:t>
            </a:r>
            <a:endParaRPr lang="en-US" sz="1600" dirty="0"/>
          </a:p>
        </p:txBody>
      </p:sp>
      <p:sp>
        <p:nvSpPr>
          <p:cNvPr id="18" name="Text 16"/>
          <p:cNvSpPr/>
          <p:nvPr/>
        </p:nvSpPr>
        <p:spPr>
          <a:xfrm>
            <a:off x="7132320" y="3383280"/>
            <a:ext cx="1371600" cy="411480"/>
          </a:xfrm>
          <a:prstGeom prst="rect">
            <a:avLst/>
          </a:prstGeom>
          <a:noFill/>
          <a:ln/>
        </p:spPr>
        <p:txBody>
          <a:bodyPr wrap="square" lIns="0" tIns="0" rIns="0" bIns="0" rtlCol="0" anchor="ctr"/>
          <a:lstStyle/>
          <a:p>
            <a:pPr algn="r" indent="0" marL="0">
              <a:buNone/>
            </a:pPr>
            <a:r>
              <a:rPr lang="en-US" sz="1200" dirty="0">
                <a:solidFill>
                  <a:srgbClr val="94A3B8"/>
                </a:solidFill>
                <a:latin typeface="Calibri" pitchFamily="34" charset="0"/>
                <a:ea typeface="Calibri" pitchFamily="34" charset="-122"/>
                <a:cs typeface="Calibri" pitchFamily="34" charset="-120"/>
              </a:rPr>
              <a:t>2 papers</a:t>
            </a:r>
            <a:endParaRPr lang="en-US" sz="1200" dirty="0"/>
          </a:p>
        </p:txBody>
      </p:sp>
      <p:sp>
        <p:nvSpPr>
          <p:cNvPr id="19" name="Text 17"/>
          <p:cNvSpPr/>
          <p:nvPr/>
        </p:nvSpPr>
        <p:spPr>
          <a:xfrm>
            <a:off x="731520" y="3886200"/>
            <a:ext cx="548640" cy="411480"/>
          </a:xfrm>
          <a:prstGeom prst="rect">
            <a:avLst/>
          </a:prstGeom>
          <a:noFill/>
          <a:ln/>
        </p:spPr>
        <p:txBody>
          <a:bodyPr wrap="square" lIns="0" tIns="0" rIns="0" bIns="0" rtlCol="0" anchor="ctr"/>
          <a:lstStyle/>
          <a:p>
            <a:pPr indent="0" marL="0">
              <a:buNone/>
            </a:pPr>
            <a:r>
              <a:rPr lang="en-US" sz="1600" b="1" dirty="0">
                <a:solidFill>
                  <a:srgbClr val="0EA5E9"/>
                </a:solidFill>
                <a:latin typeface="Calibri" pitchFamily="34" charset="0"/>
                <a:ea typeface="Calibri" pitchFamily="34" charset="-122"/>
                <a:cs typeface="Calibri" pitchFamily="34" charset="-120"/>
              </a:rPr>
              <a:t>06</a:t>
            </a:r>
            <a:endParaRPr lang="en-US" sz="1600" dirty="0"/>
          </a:p>
        </p:txBody>
      </p:sp>
      <p:sp>
        <p:nvSpPr>
          <p:cNvPr id="20" name="Text 18"/>
          <p:cNvSpPr/>
          <p:nvPr/>
        </p:nvSpPr>
        <p:spPr>
          <a:xfrm>
            <a:off x="1371600" y="3886200"/>
            <a:ext cx="5486400" cy="4114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Reviews and Landscape Papers</a:t>
            </a:r>
            <a:endParaRPr lang="en-US" sz="1600" dirty="0"/>
          </a:p>
        </p:txBody>
      </p:sp>
      <p:sp>
        <p:nvSpPr>
          <p:cNvPr id="21" name="Text 19"/>
          <p:cNvSpPr/>
          <p:nvPr/>
        </p:nvSpPr>
        <p:spPr>
          <a:xfrm>
            <a:off x="7132320" y="3886200"/>
            <a:ext cx="1371600" cy="411480"/>
          </a:xfrm>
          <a:prstGeom prst="rect">
            <a:avLst/>
          </a:prstGeom>
          <a:noFill/>
          <a:ln/>
        </p:spPr>
        <p:txBody>
          <a:bodyPr wrap="square" lIns="0" tIns="0" rIns="0" bIns="0" rtlCol="0" anchor="ctr"/>
          <a:lstStyle/>
          <a:p>
            <a:pPr algn="r" indent="0" marL="0">
              <a:buNone/>
            </a:pPr>
            <a:r>
              <a:rPr lang="en-US" sz="1200" dirty="0">
                <a:solidFill>
                  <a:srgbClr val="94A3B8"/>
                </a:solidFill>
                <a:latin typeface="Calibri" pitchFamily="34" charset="0"/>
                <a:ea typeface="Calibri" pitchFamily="34" charset="-122"/>
                <a:cs typeface="Calibri" pitchFamily="34" charset="-120"/>
              </a:rPr>
              <a:t>5 papers</a:t>
            </a:r>
            <a:endParaRPr lang="en-US" sz="1200" dirty="0"/>
          </a:p>
        </p:txBody>
      </p:sp>
      <p:sp>
        <p:nvSpPr>
          <p:cNvPr id="22" name="Text 20"/>
          <p:cNvSpPr/>
          <p:nvPr/>
        </p:nvSpPr>
        <p:spPr>
          <a:xfrm>
            <a:off x="731520" y="4389120"/>
            <a:ext cx="548640" cy="411480"/>
          </a:xfrm>
          <a:prstGeom prst="rect">
            <a:avLst/>
          </a:prstGeom>
          <a:noFill/>
          <a:ln/>
        </p:spPr>
        <p:txBody>
          <a:bodyPr wrap="square" lIns="0" tIns="0" rIns="0" bIns="0" rtlCol="0" anchor="ctr"/>
          <a:lstStyle/>
          <a:p>
            <a:pPr indent="0" marL="0">
              <a:buNone/>
            </a:pPr>
            <a:r>
              <a:rPr lang="en-US" sz="1600" b="1" dirty="0">
                <a:solidFill>
                  <a:srgbClr val="0EA5E9"/>
                </a:solidFill>
                <a:latin typeface="Calibri" pitchFamily="34" charset="0"/>
                <a:ea typeface="Calibri" pitchFamily="34" charset="-122"/>
                <a:cs typeface="Calibri" pitchFamily="34" charset="-120"/>
              </a:rPr>
              <a:t>07</a:t>
            </a:r>
            <a:endParaRPr lang="en-US" sz="1600" dirty="0"/>
          </a:p>
        </p:txBody>
      </p:sp>
      <p:sp>
        <p:nvSpPr>
          <p:cNvPr id="23" name="Text 21"/>
          <p:cNvSpPr/>
          <p:nvPr/>
        </p:nvSpPr>
        <p:spPr>
          <a:xfrm>
            <a:off x="1371600" y="4389120"/>
            <a:ext cx="5486400" cy="4114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Cross-Cutting Analysis</a:t>
            </a:r>
            <a:endParaRPr lang="en-US" sz="1600" dirty="0"/>
          </a:p>
        </p:txBody>
      </p:sp>
      <p:sp>
        <p:nvSpPr>
          <p:cNvPr id="24" name="Text 22"/>
          <p:cNvSpPr/>
          <p:nvPr/>
        </p:nvSpPr>
        <p:spPr>
          <a:xfrm>
            <a:off x="7132320" y="4389120"/>
            <a:ext cx="1371600" cy="411480"/>
          </a:xfrm>
          <a:prstGeom prst="rect">
            <a:avLst/>
          </a:prstGeom>
          <a:noFill/>
          <a:ln/>
        </p:spPr>
        <p:txBody>
          <a:bodyPr wrap="square" lIns="0" tIns="0" rIns="0" bIns="0" rtlCol="0" anchor="ctr"/>
          <a:lstStyle/>
          <a:p>
            <a:pPr algn="r" indent="0" marL="0">
              <a:buNone/>
            </a:pPr>
            <a:r>
              <a:rPr lang="en-US" sz="1200" dirty="0">
                <a:solidFill>
                  <a:srgbClr val="94A3B8"/>
                </a:solidFill>
                <a:latin typeface="Calibri" pitchFamily="34" charset="0"/>
                <a:ea typeface="Calibri" pitchFamily="34" charset="-122"/>
                <a:cs typeface="Calibri" pitchFamily="34" charset="-120"/>
              </a:rPr>
              <a:t>Synthesis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24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A5E9"/>
          </a:solidFill>
          <a:ln/>
        </p:spPr>
      </p:sp>
      <p:sp>
        <p:nvSpPr>
          <p:cNvPr id="3" name="Text 1"/>
          <p:cNvSpPr/>
          <p:nvPr/>
        </p:nvSpPr>
        <p:spPr>
          <a:xfrm>
            <a:off x="731520" y="1280160"/>
            <a:ext cx="7680960" cy="457200"/>
          </a:xfrm>
          <a:prstGeom prst="rect">
            <a:avLst/>
          </a:prstGeom>
          <a:noFill/>
          <a:ln/>
        </p:spPr>
        <p:txBody>
          <a:bodyPr wrap="square" lIns="0" tIns="0" rIns="0" bIns="0" rtlCol="0" anchor="ctr"/>
          <a:lstStyle/>
          <a:p>
            <a:pPr indent="0" marL="0">
              <a:buNone/>
            </a:pPr>
            <a:r>
              <a:rPr lang="en-US" sz="1400" spc="400" kern="0" dirty="0">
                <a:solidFill>
                  <a:srgbClr val="0EA5E9"/>
                </a:solidFill>
                <a:latin typeface="Calibri" pitchFamily="34" charset="0"/>
                <a:ea typeface="Calibri" pitchFamily="34" charset="-122"/>
                <a:cs typeface="Calibri" pitchFamily="34" charset="-120"/>
              </a:rPr>
              <a:t>Section 1</a:t>
            </a:r>
            <a:endParaRPr lang="en-US" sz="1400" dirty="0"/>
          </a:p>
        </p:txBody>
      </p:sp>
      <p:sp>
        <p:nvSpPr>
          <p:cNvPr id="4" name="Text 2"/>
          <p:cNvSpPr/>
          <p:nvPr/>
        </p:nvSpPr>
        <p:spPr>
          <a:xfrm>
            <a:off x="731520" y="1737360"/>
            <a:ext cx="7680960" cy="10972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Peptide Discovery</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and Targeting</a:t>
            </a:r>
            <a:endParaRPr lang="en-US" sz="3600" dirty="0"/>
          </a:p>
        </p:txBody>
      </p:sp>
      <p:sp>
        <p:nvSpPr>
          <p:cNvPr id="5" name="Shape 3"/>
          <p:cNvSpPr/>
          <p:nvPr/>
        </p:nvSpPr>
        <p:spPr>
          <a:xfrm>
            <a:off x="731520" y="3017520"/>
            <a:ext cx="2286000" cy="0"/>
          </a:xfrm>
          <a:prstGeom prst="line">
            <a:avLst/>
          </a:prstGeom>
          <a:noFill/>
          <a:ln w="25400">
            <a:solidFill>
              <a:srgbClr val="1C7293"/>
            </a:solidFill>
            <a:prstDash val="solid"/>
          </a:ln>
        </p:spPr>
      </p:sp>
      <p:sp>
        <p:nvSpPr>
          <p:cNvPr id="6" name="Text 4"/>
          <p:cNvSpPr/>
          <p:nvPr/>
        </p:nvSpPr>
        <p:spPr>
          <a:xfrm>
            <a:off x="731520" y="3291840"/>
            <a:ext cx="7315200" cy="7315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How do we find peptides that specifically recognize and bind to lung cancer cells?</a:t>
            </a: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The primary workhorse: phage display biopanning.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McGuire (2014)</a:t>
            </a:r>
            <a:endParaRPr lang="en-US" sz="1200" dirty="0"/>
          </a:p>
        </p:txBody>
      </p:sp>
      <p:sp>
        <p:nvSpPr>
          <p:cNvPr id="4" name="Text 2"/>
          <p:cNvSpPr/>
          <p:nvPr/>
        </p:nvSpPr>
        <p:spPr>
          <a:xfrm>
            <a:off x="548640" y="548640"/>
            <a:ext cx="493776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Tumor Targeting Peptides for NSCLC</a:t>
            </a:r>
            <a:endParaRPr lang="en-US" sz="1800" dirty="0"/>
          </a:p>
        </p:txBody>
      </p:sp>
      <p:sp>
        <p:nvSpPr>
          <p:cNvPr id="5" name="Text 3"/>
          <p:cNvSpPr/>
          <p:nvPr/>
        </p:nvSpPr>
        <p:spPr>
          <a:xfrm>
            <a:off x="548640" y="1234440"/>
            <a:ext cx="493776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Phage display: 3 libraries (7-mer, 12-mer, C7C) screened on live NSCLC cells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11 novel peptides identified with distinct binding profiles across 40 cell lines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Tetramer KD values as tight as 0.0071 nM (7 picomolar)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Binding correlates with EGFR and KRAS genotype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In vivo tumor homing confirmed in xenograft; validated on patient samples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Foundation paper — same group optimized MGS4 a decade later (Allred 2023)</a:t>
            </a:r>
            <a:endParaRPr lang="en-US" sz="1200" dirty="0"/>
          </a:p>
        </p:txBody>
      </p:sp>
      <p:sp>
        <p:nvSpPr>
          <p:cNvPr id="6" name="Shape 4"/>
          <p:cNvSpPr/>
          <p:nvPr/>
        </p:nvSpPr>
        <p:spPr>
          <a:xfrm>
            <a:off x="5669280" y="731520"/>
            <a:ext cx="3200400" cy="29260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C:\Users\soura\Desktop\cancer-peptides-literature-survey\papers\images\mcguire-2014-fig1-binding.jpg">    </p:cNvPr>
          <p:cNvPicPr>
            <a:picLocks noChangeAspect="1"/>
          </p:cNvPicPr>
          <p:nvPr/>
        </p:nvPicPr>
        <p:blipFill>
          <a:blip r:embed="rId1"/>
          <a:srcRect l="0" r="0" t="0" b="0"/>
          <a:stretch/>
        </p:blipFill>
        <p:spPr>
          <a:xfrm>
            <a:off x="5806440" y="868680"/>
            <a:ext cx="2926080" cy="2377440"/>
          </a:xfrm>
          <a:prstGeom prst="rect">
            <a:avLst/>
          </a:prstGeom>
        </p:spPr>
      </p:pic>
      <p:sp>
        <p:nvSpPr>
          <p:cNvPr id="8" name="Text 5"/>
          <p:cNvSpPr/>
          <p:nvPr/>
        </p:nvSpPr>
        <p:spPr>
          <a:xfrm>
            <a:off x="5669280" y="3337560"/>
            <a:ext cx="3200400" cy="32004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Fig 1: Binding profiles across 40-cell-line panel</a:t>
            </a:r>
            <a:endParaRPr lang="en-US" sz="800" dirty="0"/>
          </a:p>
        </p:txBody>
      </p:sp>
      <p:sp>
        <p:nvSpPr>
          <p:cNvPr id="9" name="Shape 6"/>
          <p:cNvSpPr/>
          <p:nvPr/>
        </p:nvSpPr>
        <p:spPr>
          <a:xfrm>
            <a:off x="0" y="4869180"/>
            <a:ext cx="9144000" cy="274320"/>
          </a:xfrm>
          <a:prstGeom prst="rect">
            <a:avLst/>
          </a:prstGeom>
          <a:solidFill>
            <a:srgbClr val="0A1628"/>
          </a:solidFill>
          <a:ln/>
        </p:spPr>
      </p:sp>
      <p:sp>
        <p:nvSpPr>
          <p:cNvPr id="10" name="Text 7"/>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McGuire et al. (2014)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Chi (2017)</a:t>
            </a:r>
            <a:endParaRPr lang="en-US" sz="1200" dirty="0"/>
          </a:p>
        </p:txBody>
      </p:sp>
      <p:sp>
        <p:nvSpPr>
          <p:cNvPr id="4" name="Text 2"/>
          <p:cNvSpPr/>
          <p:nvPr/>
        </p:nvSpPr>
        <p:spPr>
          <a:xfrm>
            <a:off x="548640" y="548640"/>
            <a:ext cx="804672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Lung Cancer-Targeting Peptides for Multi-Subtype Indication</a:t>
            </a:r>
            <a:endParaRPr lang="en-US" sz="1800" dirty="0"/>
          </a:p>
        </p:txBody>
      </p:sp>
      <p:sp>
        <p:nvSpPr>
          <p:cNvPr id="5" name="Text 3"/>
          <p:cNvSpPr/>
          <p:nvPr/>
        </p:nvSpPr>
        <p:spPr>
          <a:xfrm>
            <a:off x="548640" y="1097280"/>
            <a:ext cx="804672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Phage display on H460 cells → HSP1, HSP2, HSP4 peptides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Unique: targets SCLC + NSCLC (4 subtypes) — rare in this field</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HSP4-liposomal doxorubicin: median survival 131 vs 84 days (+47 d, p=0.0248)</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Theranostic: MRI tumor imaging (~42% signal reduction)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Only orthotopic lung cancer model in entire 19-paper survey</a:t>
            </a:r>
            <a:endParaRPr lang="en-US" sz="1200" dirty="0"/>
          </a:p>
        </p:txBody>
      </p:sp>
      <p:sp>
        <p:nvSpPr>
          <p:cNvPr id="6" name="Shape 4"/>
          <p:cNvSpPr/>
          <p:nvPr/>
        </p:nvSpPr>
        <p:spPr>
          <a:xfrm>
            <a:off x="548640" y="2560320"/>
            <a:ext cx="3840480" cy="20116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C:\Users\soura\Desktop\cancer-peptides-literature-survey\papers\images\chi-2017-fig3-mri.jpg">    </p:cNvPr>
          <p:cNvPicPr>
            <a:picLocks noChangeAspect="1"/>
          </p:cNvPicPr>
          <p:nvPr/>
        </p:nvPicPr>
        <p:blipFill>
          <a:blip r:embed="rId1"/>
          <a:srcRect l="0" r="0" t="0" b="0"/>
          <a:stretch/>
        </p:blipFill>
        <p:spPr>
          <a:xfrm>
            <a:off x="640080" y="2651760"/>
            <a:ext cx="3657600" cy="1554480"/>
          </a:xfrm>
          <a:prstGeom prst="rect">
            <a:avLst/>
          </a:prstGeom>
        </p:spPr>
      </p:pic>
      <p:sp>
        <p:nvSpPr>
          <p:cNvPr id="8" name="Text 5"/>
          <p:cNvSpPr/>
          <p:nvPr/>
        </p:nvSpPr>
        <p:spPr>
          <a:xfrm>
            <a:off x="548640" y="4297680"/>
            <a:ext cx="3840480" cy="27432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MRI tumor imaging with HSP peptides</a:t>
            </a:r>
            <a:endParaRPr lang="en-US" sz="800" dirty="0"/>
          </a:p>
        </p:txBody>
      </p:sp>
      <p:sp>
        <p:nvSpPr>
          <p:cNvPr id="9" name="Shape 6"/>
          <p:cNvSpPr/>
          <p:nvPr/>
        </p:nvSpPr>
        <p:spPr>
          <a:xfrm>
            <a:off x="4754880" y="2560320"/>
            <a:ext cx="3840480" cy="20116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1" descr="C:\Users\soura\Desktop\cancer-peptides-literature-survey\papers\images\chi-2017-fig8-survival.jpg">    </p:cNvPr>
          <p:cNvPicPr>
            <a:picLocks noChangeAspect="1"/>
          </p:cNvPicPr>
          <p:nvPr/>
        </p:nvPicPr>
        <p:blipFill>
          <a:blip r:embed="rId2"/>
          <a:srcRect l="0" r="0" t="0" b="0"/>
          <a:stretch/>
        </p:blipFill>
        <p:spPr>
          <a:xfrm>
            <a:off x="4846320" y="2651760"/>
            <a:ext cx="3657600" cy="1554480"/>
          </a:xfrm>
          <a:prstGeom prst="rect">
            <a:avLst/>
          </a:prstGeom>
        </p:spPr>
      </p:pic>
      <p:sp>
        <p:nvSpPr>
          <p:cNvPr id="11" name="Text 7"/>
          <p:cNvSpPr/>
          <p:nvPr/>
        </p:nvSpPr>
        <p:spPr>
          <a:xfrm>
            <a:off x="4754880" y="4297680"/>
            <a:ext cx="3840480" cy="27432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Survival: 131 vs 84 days</a:t>
            </a:r>
            <a:endParaRPr lang="en-US" sz="800" dirty="0"/>
          </a:p>
        </p:txBody>
      </p:sp>
      <p:sp>
        <p:nvSpPr>
          <p:cNvPr id="12" name="Shape 8"/>
          <p:cNvSpPr/>
          <p:nvPr/>
        </p:nvSpPr>
        <p:spPr>
          <a:xfrm>
            <a:off x="0" y="4869180"/>
            <a:ext cx="9144000" cy="274320"/>
          </a:xfrm>
          <a:prstGeom prst="rect">
            <a:avLst/>
          </a:prstGeom>
          <a:solidFill>
            <a:srgbClr val="0A1628"/>
          </a:solidFill>
          <a:ln/>
        </p:spPr>
      </p:sp>
      <p:sp>
        <p:nvSpPr>
          <p:cNvPr id="13" name="Text 9"/>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Chi et al. (2017)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Bakhshinejad (2018)</a:t>
            </a:r>
            <a:endParaRPr lang="en-US" sz="1200" dirty="0"/>
          </a:p>
        </p:txBody>
      </p:sp>
      <p:sp>
        <p:nvSpPr>
          <p:cNvPr id="4" name="Text 2"/>
          <p:cNvSpPr/>
          <p:nvPr/>
        </p:nvSpPr>
        <p:spPr>
          <a:xfrm>
            <a:off x="548640" y="548640"/>
            <a:ext cx="804672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Novel Tumor-Binding Peptide LCP1</a:t>
            </a:r>
            <a:endParaRPr lang="en-US" sz="1800" dirty="0"/>
          </a:p>
        </p:txBody>
      </p:sp>
      <p:sp>
        <p:nvSpPr>
          <p:cNvPr id="5" name="Text 3"/>
          <p:cNvSpPr/>
          <p:nvPr/>
        </p:nvSpPr>
        <p:spPr>
          <a:xfrm>
            <a:off x="548640" y="1280160"/>
            <a:ext cx="804672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Ph.D.-7 phage display (7-mer library), 3 rounds on A549 cells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Peptide: LCP1 (AWRTHTP) — 170-fold phage enrichment</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Selectivity index 5.1 for A549 vs normal lung WI-38 cells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No binding to liver, esophageal, or breast cancer — genuine lung specificity</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Limitation: In vitro only; receptor unknown; early-stage discovery</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Demonstrates even short 7-mer peptides can achieve tissue-specific targeting</a:t>
            </a:r>
            <a:endParaRPr lang="en-US" sz="1300" dirty="0"/>
          </a:p>
        </p:txBody>
      </p:sp>
      <p:sp>
        <p:nvSpPr>
          <p:cNvPr id="6" name="Shape 4"/>
          <p:cNvSpPr/>
          <p:nvPr/>
        </p:nvSpPr>
        <p:spPr>
          <a:xfrm>
            <a:off x="0" y="4869180"/>
            <a:ext cx="9144000" cy="274320"/>
          </a:xfrm>
          <a:prstGeom prst="rect">
            <a:avLst/>
          </a:prstGeom>
          <a:solidFill>
            <a:srgbClr val="0A1628"/>
          </a:solidFill>
          <a:ln/>
        </p:spPr>
      </p:sp>
      <p:sp>
        <p:nvSpPr>
          <p:cNvPr id="7" name="Text 5"/>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Bakhshinejad et al. (2018)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Furman (2022)</a:t>
            </a:r>
            <a:endParaRPr lang="en-US" sz="1200" dirty="0"/>
          </a:p>
        </p:txBody>
      </p:sp>
      <p:sp>
        <p:nvSpPr>
          <p:cNvPr id="4" name="Text 2"/>
          <p:cNvSpPr/>
          <p:nvPr/>
        </p:nvSpPr>
        <p:spPr>
          <a:xfrm>
            <a:off x="548640" y="548640"/>
            <a:ext cx="493776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Cyclic Peptides for EGFR/EGFRvIII</a:t>
            </a:r>
            <a:endParaRPr lang="en-US" sz="1800" dirty="0"/>
          </a:p>
        </p:txBody>
      </p:sp>
      <p:sp>
        <p:nvSpPr>
          <p:cNvPr id="5" name="Text 3"/>
          <p:cNvSpPr/>
          <p:nvPr/>
        </p:nvSpPr>
        <p:spPr>
          <a:xfrm>
            <a:off x="548640" y="1234440"/>
            <a:ext cx="493776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First to combine phage display + NGS: 617,503 sequences screened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Cyclic peptides P6 (NSCLC) and P9 (glioblastoma)</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P9-camptothecin conjugate: 2-3x more cytotoxic than free drug (IC50 2.2 uM)</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Targets EGFR wild-type and EGFRvIII mutant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Massive parallel screening replaces manual colony picking</a:t>
            </a:r>
            <a:endParaRPr lang="en-US" sz="1200" dirty="0"/>
          </a:p>
        </p:txBody>
      </p:sp>
      <p:sp>
        <p:nvSpPr>
          <p:cNvPr id="6" name="Shape 4"/>
          <p:cNvSpPr/>
          <p:nvPr/>
        </p:nvSpPr>
        <p:spPr>
          <a:xfrm>
            <a:off x="5669280" y="731520"/>
            <a:ext cx="3200400" cy="29260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C:\Users\soura\Desktop\cancer-peptides-literature-survey\papers\images\furman-2022-fig6-docking.jpg">    </p:cNvPr>
          <p:cNvPicPr>
            <a:picLocks noChangeAspect="1"/>
          </p:cNvPicPr>
          <p:nvPr/>
        </p:nvPicPr>
        <p:blipFill>
          <a:blip r:embed="rId1"/>
          <a:srcRect l="0" r="0" t="0" b="0"/>
          <a:stretch/>
        </p:blipFill>
        <p:spPr>
          <a:xfrm>
            <a:off x="5806440" y="868680"/>
            <a:ext cx="2926080" cy="2377440"/>
          </a:xfrm>
          <a:prstGeom prst="rect">
            <a:avLst/>
          </a:prstGeom>
        </p:spPr>
      </p:pic>
      <p:sp>
        <p:nvSpPr>
          <p:cNvPr id="8" name="Text 5"/>
          <p:cNvSpPr/>
          <p:nvPr/>
        </p:nvSpPr>
        <p:spPr>
          <a:xfrm>
            <a:off x="5669280" y="3337560"/>
            <a:ext cx="3200400" cy="32004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Molecular docking of peptides to EGFR</a:t>
            </a:r>
            <a:endParaRPr lang="en-US" sz="800" dirty="0"/>
          </a:p>
        </p:txBody>
      </p:sp>
      <p:sp>
        <p:nvSpPr>
          <p:cNvPr id="9" name="Shape 6"/>
          <p:cNvSpPr/>
          <p:nvPr/>
        </p:nvSpPr>
        <p:spPr>
          <a:xfrm>
            <a:off x="0" y="4869180"/>
            <a:ext cx="9144000" cy="274320"/>
          </a:xfrm>
          <a:prstGeom prst="rect">
            <a:avLst/>
          </a:prstGeom>
          <a:solidFill>
            <a:srgbClr val="0A1628"/>
          </a:solidFill>
          <a:ln/>
        </p:spPr>
      </p:sp>
      <p:sp>
        <p:nvSpPr>
          <p:cNvPr id="10" name="Text 7"/>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Furman et al. (2022)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Zhou (2022)</a:t>
            </a:r>
            <a:endParaRPr lang="en-US" sz="1200" dirty="0"/>
          </a:p>
        </p:txBody>
      </p:sp>
      <p:sp>
        <p:nvSpPr>
          <p:cNvPr id="4" name="Text 2"/>
          <p:cNvSpPr/>
          <p:nvPr/>
        </p:nvSpPr>
        <p:spPr>
          <a:xfrm>
            <a:off x="548640" y="548640"/>
            <a:ext cx="804672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NKTP-3 Cyclic D-Peptide for Dual Targeting</a:t>
            </a:r>
            <a:endParaRPr lang="en-US" sz="1800" dirty="0"/>
          </a:p>
        </p:txBody>
      </p:sp>
      <p:sp>
        <p:nvSpPr>
          <p:cNvPr id="5" name="Text 3"/>
          <p:cNvSpPr/>
          <p:nvPr/>
        </p:nvSpPr>
        <p:spPr>
          <a:xfrm>
            <a:off x="548640" y="1280160"/>
            <a:ext cx="804672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Structure-based computational design + virtual screening</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NKTP-3: cyclic D-peptide → protease-resistant, cell-permeable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First dual-target peptide: NRP1 (surface) + KRAS G12D (intracellular)</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Selective for G12D over wild-type, G12C, G12V variants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Strong antitumor activity in vivo (A427 xenograft); no obvious toxicity</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Paradigm: simultaneous surface + intracellular oncoprotein targeting</a:t>
            </a:r>
            <a:endParaRPr lang="en-US" sz="1300" dirty="0"/>
          </a:p>
        </p:txBody>
      </p:sp>
      <p:sp>
        <p:nvSpPr>
          <p:cNvPr id="6" name="Shape 4"/>
          <p:cNvSpPr/>
          <p:nvPr/>
        </p:nvSpPr>
        <p:spPr>
          <a:xfrm>
            <a:off x="0" y="4869180"/>
            <a:ext cx="9144000" cy="274320"/>
          </a:xfrm>
          <a:prstGeom prst="rect">
            <a:avLst/>
          </a:prstGeom>
          <a:solidFill>
            <a:srgbClr val="0A1628"/>
          </a:solidFill>
          <a:ln/>
        </p:spPr>
      </p:sp>
      <p:sp>
        <p:nvSpPr>
          <p:cNvPr id="7" name="Text 5"/>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Zhou et al. (2022)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Allred (2023)</a:t>
            </a:r>
            <a:endParaRPr lang="en-US" sz="1200" dirty="0"/>
          </a:p>
        </p:txBody>
      </p:sp>
      <p:sp>
        <p:nvSpPr>
          <p:cNvPr id="4" name="Text 2"/>
          <p:cNvSpPr/>
          <p:nvPr/>
        </p:nvSpPr>
        <p:spPr>
          <a:xfrm>
            <a:off x="548640" y="548640"/>
            <a:ext cx="493776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Peptide-Guided Saporin Delivery to NSCLC</a:t>
            </a:r>
            <a:endParaRPr lang="en-US" sz="1800" dirty="0"/>
          </a:p>
        </p:txBody>
      </p:sp>
      <p:sp>
        <p:nvSpPr>
          <p:cNvPr id="5" name="Text 3"/>
          <p:cNvSpPr/>
          <p:nvPr/>
        </p:nvSpPr>
        <p:spPr>
          <a:xfrm>
            <a:off x="548640" y="1234440"/>
            <a:ext cx="493776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Continuation of McGuire 2014 — same group (SRI International)</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Optimized MGS4_V8 (Ac-FHAVPQSFYT): 10-aa monomer, N-terminal acetylation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EC50 &lt; 40 nM on 4 NSCLC lines; with saporin: IC50 9.4 nM</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In vivo: 25-40x tumor accumulation; ~50% tumor reduction (p&lt;0.01)</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Peptide retained in tumors for 72 hours; &gt;48 h serum stability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Textbook iterative optimization from discovery to therapeutic candidate</a:t>
            </a:r>
            <a:endParaRPr lang="en-US" sz="1200" dirty="0"/>
          </a:p>
        </p:txBody>
      </p:sp>
      <p:sp>
        <p:nvSpPr>
          <p:cNvPr id="6" name="Shape 4"/>
          <p:cNvSpPr/>
          <p:nvPr/>
        </p:nvSpPr>
        <p:spPr>
          <a:xfrm>
            <a:off x="5669280" y="731520"/>
            <a:ext cx="3200400" cy="29260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C:\Users\soura\Desktop\cancer-peptides-literature-survey\papers\images\allred-2023-fig5-tumor-homing.jpg">    </p:cNvPr>
          <p:cNvPicPr>
            <a:picLocks noChangeAspect="1"/>
          </p:cNvPicPr>
          <p:nvPr/>
        </p:nvPicPr>
        <p:blipFill>
          <a:blip r:embed="rId1"/>
          <a:srcRect l="0" r="0" t="0" b="0"/>
          <a:stretch/>
        </p:blipFill>
        <p:spPr>
          <a:xfrm>
            <a:off x="5806440" y="868680"/>
            <a:ext cx="2926080" cy="2377440"/>
          </a:xfrm>
          <a:prstGeom prst="rect">
            <a:avLst/>
          </a:prstGeom>
        </p:spPr>
      </p:pic>
      <p:sp>
        <p:nvSpPr>
          <p:cNvPr id="8" name="Text 5"/>
          <p:cNvSpPr/>
          <p:nvPr/>
        </p:nvSpPr>
        <p:spPr>
          <a:xfrm>
            <a:off x="5669280" y="3337560"/>
            <a:ext cx="3200400" cy="32004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240-fold tumor accumulation (NIR) + growth inhibition</a:t>
            </a:r>
            <a:endParaRPr lang="en-US" sz="800" dirty="0"/>
          </a:p>
        </p:txBody>
      </p:sp>
      <p:sp>
        <p:nvSpPr>
          <p:cNvPr id="9" name="Shape 6"/>
          <p:cNvSpPr/>
          <p:nvPr/>
        </p:nvSpPr>
        <p:spPr>
          <a:xfrm>
            <a:off x="0" y="4869180"/>
            <a:ext cx="9144000" cy="274320"/>
          </a:xfrm>
          <a:prstGeom prst="rect">
            <a:avLst/>
          </a:prstGeom>
          <a:solidFill>
            <a:srgbClr val="0A1628"/>
          </a:solidFill>
          <a:ln/>
        </p:spPr>
      </p:sp>
      <p:sp>
        <p:nvSpPr>
          <p:cNvPr id="10" name="Text 7"/>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Allred et al. (2023)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24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A5E9"/>
          </a:solidFill>
          <a:ln/>
        </p:spPr>
      </p:sp>
      <p:sp>
        <p:nvSpPr>
          <p:cNvPr id="3" name="Text 1"/>
          <p:cNvSpPr/>
          <p:nvPr/>
        </p:nvSpPr>
        <p:spPr>
          <a:xfrm>
            <a:off x="731520" y="1280160"/>
            <a:ext cx="7680960" cy="457200"/>
          </a:xfrm>
          <a:prstGeom prst="rect">
            <a:avLst/>
          </a:prstGeom>
          <a:noFill/>
          <a:ln/>
        </p:spPr>
        <p:txBody>
          <a:bodyPr wrap="square" lIns="0" tIns="0" rIns="0" bIns="0" rtlCol="0" anchor="ctr"/>
          <a:lstStyle/>
          <a:p>
            <a:pPr indent="0" marL="0">
              <a:buNone/>
            </a:pPr>
            <a:r>
              <a:rPr lang="en-US" sz="1400" spc="400" kern="0" dirty="0">
                <a:solidFill>
                  <a:srgbClr val="0EA5E9"/>
                </a:solidFill>
                <a:latin typeface="Calibri" pitchFamily="34" charset="0"/>
                <a:ea typeface="Calibri" pitchFamily="34" charset="-122"/>
                <a:cs typeface="Calibri" pitchFamily="34" charset="-120"/>
              </a:rPr>
              <a:t>Section 2</a:t>
            </a:r>
            <a:endParaRPr lang="en-US" sz="1400" dirty="0"/>
          </a:p>
        </p:txBody>
      </p:sp>
      <p:sp>
        <p:nvSpPr>
          <p:cNvPr id="4" name="Text 2"/>
          <p:cNvSpPr/>
          <p:nvPr/>
        </p:nvSpPr>
        <p:spPr>
          <a:xfrm>
            <a:off x="731520" y="1737360"/>
            <a:ext cx="7680960" cy="10972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Anticancer Peptides</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with Direct Activity</a:t>
            </a:r>
            <a:endParaRPr lang="en-US" sz="3600" dirty="0"/>
          </a:p>
        </p:txBody>
      </p:sp>
      <p:sp>
        <p:nvSpPr>
          <p:cNvPr id="5" name="Shape 3"/>
          <p:cNvSpPr/>
          <p:nvPr/>
        </p:nvSpPr>
        <p:spPr>
          <a:xfrm>
            <a:off x="731520" y="3017520"/>
            <a:ext cx="2286000" cy="0"/>
          </a:xfrm>
          <a:prstGeom prst="line">
            <a:avLst/>
          </a:prstGeom>
          <a:noFill/>
          <a:ln w="25400">
            <a:solidFill>
              <a:srgbClr val="1C7293"/>
            </a:solidFill>
            <a:prstDash val="solid"/>
          </a:ln>
        </p:spPr>
      </p:sp>
      <p:sp>
        <p:nvSpPr>
          <p:cNvPr id="6" name="Text 4"/>
          <p:cNvSpPr/>
          <p:nvPr/>
        </p:nvSpPr>
        <p:spPr>
          <a:xfrm>
            <a:off x="731520" y="3291840"/>
            <a:ext cx="7315200" cy="7315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Peptides that kill cancer cells directly through membrane disruption,</a:t>
            </a: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apoptosis, or anti-angiogenesis — the peptide IS the drug.</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Shin (2022)</a:t>
            </a:r>
            <a:endParaRPr lang="en-US" sz="1200" dirty="0"/>
          </a:p>
        </p:txBody>
      </p:sp>
      <p:sp>
        <p:nvSpPr>
          <p:cNvPr id="4" name="Text 2"/>
          <p:cNvSpPr/>
          <p:nvPr/>
        </p:nvSpPr>
        <p:spPr>
          <a:xfrm>
            <a:off x="548640" y="548640"/>
            <a:ext cx="493776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AC-P19M: De Novo AI-Designed Anticancer Peptide</a:t>
            </a:r>
            <a:endParaRPr lang="en-US" sz="1800" dirty="0"/>
          </a:p>
        </p:txBody>
      </p:sp>
      <p:sp>
        <p:nvSpPr>
          <p:cNvPr id="5" name="Text 3"/>
          <p:cNvSpPr/>
          <p:nvPr/>
        </p:nvSpPr>
        <p:spPr>
          <a:xfrm>
            <a:off x="548640" y="1234440"/>
            <a:ext cx="493776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AI tools used: mACPpred, ACPred, ENNACT for de novo design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AC-P19M: net charge +9, alpha-helical structure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IC50 ~10-15 uM on A549/H460; zero toxicity at 100 uM in normal cells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Multi-mechanism: apoptosis + membrane disruption + VEGFR2 suppression + anti-EMT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Early example of AI-assisted peptide design with validated activity</a:t>
            </a:r>
            <a:endParaRPr lang="en-US" sz="1200" dirty="0"/>
          </a:p>
        </p:txBody>
      </p:sp>
      <p:sp>
        <p:nvSpPr>
          <p:cNvPr id="6" name="Shape 4"/>
          <p:cNvSpPr/>
          <p:nvPr/>
        </p:nvSpPr>
        <p:spPr>
          <a:xfrm>
            <a:off x="5669280" y="731520"/>
            <a:ext cx="3200400" cy="29260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C:\Users\soura\Desktop\cancer-peptides-literature-survey\papers\images\shin-2022-fig1-design.jpg">    </p:cNvPr>
          <p:cNvPicPr>
            <a:picLocks noChangeAspect="1"/>
          </p:cNvPicPr>
          <p:nvPr/>
        </p:nvPicPr>
        <p:blipFill>
          <a:blip r:embed="rId1"/>
          <a:srcRect l="0" r="0" t="0" b="0"/>
          <a:stretch/>
        </p:blipFill>
        <p:spPr>
          <a:xfrm>
            <a:off x="5806440" y="868680"/>
            <a:ext cx="2926080" cy="2377440"/>
          </a:xfrm>
          <a:prstGeom prst="rect">
            <a:avLst/>
          </a:prstGeom>
        </p:spPr>
      </p:pic>
      <p:sp>
        <p:nvSpPr>
          <p:cNvPr id="8" name="Text 5"/>
          <p:cNvSpPr/>
          <p:nvPr/>
        </p:nvSpPr>
        <p:spPr>
          <a:xfrm>
            <a:off x="5669280" y="3337560"/>
            <a:ext cx="3200400" cy="32004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De novo design pipeline with AI prediction</a:t>
            </a:r>
            <a:endParaRPr lang="en-US" sz="800" dirty="0"/>
          </a:p>
        </p:txBody>
      </p:sp>
      <p:sp>
        <p:nvSpPr>
          <p:cNvPr id="9" name="Shape 6"/>
          <p:cNvSpPr/>
          <p:nvPr/>
        </p:nvSpPr>
        <p:spPr>
          <a:xfrm>
            <a:off x="0" y="4869180"/>
            <a:ext cx="9144000" cy="274320"/>
          </a:xfrm>
          <a:prstGeom prst="rect">
            <a:avLst/>
          </a:prstGeom>
          <a:solidFill>
            <a:srgbClr val="0A1628"/>
          </a:solidFill>
          <a:ln/>
        </p:spPr>
      </p:sp>
      <p:sp>
        <p:nvSpPr>
          <p:cNvPr id="10" name="Text 7"/>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Shin et al. (2022)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Yang (2022)</a:t>
            </a:r>
            <a:endParaRPr lang="en-US" sz="1200" dirty="0"/>
          </a:p>
        </p:txBody>
      </p:sp>
      <p:sp>
        <p:nvSpPr>
          <p:cNvPr id="4" name="Text 2"/>
          <p:cNvSpPr/>
          <p:nvPr/>
        </p:nvSpPr>
        <p:spPr>
          <a:xfrm>
            <a:off x="548640" y="548640"/>
            <a:ext cx="804672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K4F6K4 Triblock Amphiphilic Peptide</a:t>
            </a:r>
            <a:endParaRPr lang="en-US" sz="1800" dirty="0"/>
          </a:p>
        </p:txBody>
      </p:sp>
      <p:sp>
        <p:nvSpPr>
          <p:cNvPr id="5" name="Text 3"/>
          <p:cNvSpPr/>
          <p:nvPr/>
        </p:nvSpPr>
        <p:spPr>
          <a:xfrm>
            <a:off x="548640" y="1097280"/>
            <a:ext cx="804672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Rational triblock design: KKKK-FFFFFF-KKKK — just 14 residues</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Cationic blocks interact with negatively charged cancer membrane; hydrophobic core disrupts it</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IC50 62.6 ug/mL on A549; 81.6% tumor volume reduction at Day 28 in vivo</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12.9x selectivity over normal MRC-5 lung fibroblasts; no in vivo toxicity</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Fundamentally different from receptor-based targeting — simplicity is the point</a:t>
            </a:r>
            <a:endParaRPr lang="en-US" sz="1200" dirty="0"/>
          </a:p>
        </p:txBody>
      </p:sp>
      <p:sp>
        <p:nvSpPr>
          <p:cNvPr id="6" name="Shape 4"/>
          <p:cNvSpPr/>
          <p:nvPr/>
        </p:nvSpPr>
        <p:spPr>
          <a:xfrm>
            <a:off x="548640" y="2560320"/>
            <a:ext cx="3840480" cy="20116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C:\Users\soura\Desktop\cancer-peptides-literature-survey\papers\images\yang-2022-fig7-tumor-reduction.jpg">    </p:cNvPr>
          <p:cNvPicPr>
            <a:picLocks noChangeAspect="1"/>
          </p:cNvPicPr>
          <p:nvPr/>
        </p:nvPicPr>
        <p:blipFill>
          <a:blip r:embed="rId1"/>
          <a:srcRect l="0" r="0" t="0" b="0"/>
          <a:stretch/>
        </p:blipFill>
        <p:spPr>
          <a:xfrm>
            <a:off x="640080" y="2651760"/>
            <a:ext cx="3657600" cy="1554480"/>
          </a:xfrm>
          <a:prstGeom prst="rect">
            <a:avLst/>
          </a:prstGeom>
        </p:spPr>
      </p:pic>
      <p:sp>
        <p:nvSpPr>
          <p:cNvPr id="8" name="Text 5"/>
          <p:cNvSpPr/>
          <p:nvPr/>
        </p:nvSpPr>
        <p:spPr>
          <a:xfrm>
            <a:off x="548640" y="4297680"/>
            <a:ext cx="3840480" cy="27432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81.6% tumor volume reduction in vivo</a:t>
            </a:r>
            <a:endParaRPr lang="en-US" sz="800" dirty="0"/>
          </a:p>
        </p:txBody>
      </p:sp>
      <p:sp>
        <p:nvSpPr>
          <p:cNvPr id="9" name="Shape 6"/>
          <p:cNvSpPr/>
          <p:nvPr/>
        </p:nvSpPr>
        <p:spPr>
          <a:xfrm>
            <a:off x="4754880" y="2560320"/>
            <a:ext cx="3840480" cy="20116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1" descr="C:\Users\soura\Desktop\cancer-peptides-literature-survey\papers\images\yang-2022-fig8-mechanism.jpg">    </p:cNvPr>
          <p:cNvPicPr>
            <a:picLocks noChangeAspect="1"/>
          </p:cNvPicPr>
          <p:nvPr/>
        </p:nvPicPr>
        <p:blipFill>
          <a:blip r:embed="rId2"/>
          <a:srcRect l="0" r="0" t="0" b="0"/>
          <a:stretch/>
        </p:blipFill>
        <p:spPr>
          <a:xfrm>
            <a:off x="4846320" y="2651760"/>
            <a:ext cx="3657600" cy="1554480"/>
          </a:xfrm>
          <a:prstGeom prst="rect">
            <a:avLst/>
          </a:prstGeom>
        </p:spPr>
      </p:pic>
      <p:sp>
        <p:nvSpPr>
          <p:cNvPr id="11" name="Text 7"/>
          <p:cNvSpPr/>
          <p:nvPr/>
        </p:nvSpPr>
        <p:spPr>
          <a:xfrm>
            <a:off x="4754880" y="4297680"/>
            <a:ext cx="3840480" cy="27432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Membrane disruption mechanism</a:t>
            </a:r>
            <a:endParaRPr lang="en-US" sz="800" dirty="0"/>
          </a:p>
        </p:txBody>
      </p:sp>
      <p:sp>
        <p:nvSpPr>
          <p:cNvPr id="12" name="Shape 8"/>
          <p:cNvSpPr/>
          <p:nvPr/>
        </p:nvSpPr>
        <p:spPr>
          <a:xfrm>
            <a:off x="0" y="4869180"/>
            <a:ext cx="9144000" cy="274320"/>
          </a:xfrm>
          <a:prstGeom prst="rect">
            <a:avLst/>
          </a:prstGeom>
          <a:solidFill>
            <a:srgbClr val="0A1628"/>
          </a:solidFill>
          <a:ln/>
        </p:spPr>
      </p:sp>
      <p:sp>
        <p:nvSpPr>
          <p:cNvPr id="13" name="Text 9"/>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Yang et al. (2022)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24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A5E9"/>
          </a:solidFill>
          <a:ln/>
        </p:spPr>
      </p:sp>
      <p:sp>
        <p:nvSpPr>
          <p:cNvPr id="3" name="Text 1"/>
          <p:cNvSpPr/>
          <p:nvPr/>
        </p:nvSpPr>
        <p:spPr>
          <a:xfrm>
            <a:off x="731520" y="1280160"/>
            <a:ext cx="7680960" cy="457200"/>
          </a:xfrm>
          <a:prstGeom prst="rect">
            <a:avLst/>
          </a:prstGeom>
          <a:noFill/>
          <a:ln/>
        </p:spPr>
        <p:txBody>
          <a:bodyPr wrap="square" lIns="0" tIns="0" rIns="0" bIns="0" rtlCol="0" anchor="ctr"/>
          <a:lstStyle/>
          <a:p>
            <a:pPr indent="0" marL="0">
              <a:buNone/>
            </a:pPr>
            <a:r>
              <a:rPr lang="en-US" sz="1400" spc="400" kern="0" dirty="0">
                <a:solidFill>
                  <a:srgbClr val="0EA5E9"/>
                </a:solidFill>
                <a:latin typeface="Calibri" pitchFamily="34" charset="0"/>
                <a:ea typeface="Calibri" pitchFamily="34" charset="-122"/>
                <a:cs typeface="Calibri" pitchFamily="34" charset="-120"/>
              </a:rPr>
              <a:t>Section 3</a:t>
            </a:r>
            <a:endParaRPr lang="en-US" sz="1400" dirty="0"/>
          </a:p>
        </p:txBody>
      </p:sp>
      <p:sp>
        <p:nvSpPr>
          <p:cNvPr id="4" name="Text 2"/>
          <p:cNvSpPr/>
          <p:nvPr/>
        </p:nvSpPr>
        <p:spPr>
          <a:xfrm>
            <a:off x="731520" y="1737360"/>
            <a:ext cx="7680960" cy="10972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Peptide-Drug Conjugates</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and Delivery</a:t>
            </a:r>
            <a:endParaRPr lang="en-US" sz="3600" dirty="0"/>
          </a:p>
        </p:txBody>
      </p:sp>
      <p:sp>
        <p:nvSpPr>
          <p:cNvPr id="5" name="Shape 3"/>
          <p:cNvSpPr/>
          <p:nvPr/>
        </p:nvSpPr>
        <p:spPr>
          <a:xfrm>
            <a:off x="731520" y="3017520"/>
            <a:ext cx="2286000" cy="0"/>
          </a:xfrm>
          <a:prstGeom prst="line">
            <a:avLst/>
          </a:prstGeom>
          <a:noFill/>
          <a:ln w="25400">
            <a:solidFill>
              <a:srgbClr val="1C7293"/>
            </a:solidFill>
            <a:prstDash val="solid"/>
          </a:ln>
        </p:spPr>
      </p:sp>
      <p:sp>
        <p:nvSpPr>
          <p:cNvPr id="6" name="Text 4"/>
          <p:cNvSpPr/>
          <p:nvPr/>
        </p:nvSpPr>
        <p:spPr>
          <a:xfrm>
            <a:off x="731520" y="3291840"/>
            <a:ext cx="7315200" cy="7315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Peptides as guided missiles delivering cytotoxic payloads — the peptide equivalent</a:t>
            </a: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of antibody-drug conjugates, at a fraction of the size.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Mudd (2022)</a:t>
            </a:r>
            <a:endParaRPr lang="en-US" sz="1200" dirty="0"/>
          </a:p>
        </p:txBody>
      </p:sp>
      <p:sp>
        <p:nvSpPr>
          <p:cNvPr id="4" name="Text 2"/>
          <p:cNvSpPr/>
          <p:nvPr/>
        </p:nvSpPr>
        <p:spPr>
          <a:xfrm>
            <a:off x="548640" y="548640"/>
            <a:ext cx="804672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BT8009 Bicycle Toxin Conjugate (Nectin-4)</a:t>
            </a:r>
            <a:endParaRPr lang="en-US" sz="1800" dirty="0"/>
          </a:p>
        </p:txBody>
      </p:sp>
      <p:sp>
        <p:nvSpPr>
          <p:cNvPr id="5" name="Text 3"/>
          <p:cNvSpPr/>
          <p:nvPr/>
        </p:nvSpPr>
        <p:spPr>
          <a:xfrm>
            <a:off x="548640" y="1097280"/>
            <a:ext cx="804672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Bicycle peptide (~4 kDa) constrained by TATA scaffold + MMAE cytotoxin</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KD 2.8 nM for Nectin-4 — antibody-like affinity at 1/30th molecular weight</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Near-complete tumor regression by Day 18 in xenograft (3 mg/kg 2x/week)</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Phase I/II clinical trial — most advanced peptide therapeutic in survey</a:t>
            </a:r>
            <a:endParaRPr lang="en-US" sz="1200" dirty="0"/>
          </a:p>
          <a:p>
            <a:pPr marL="342900" indent="-342900">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First-in-class bicycle toxin conjugate; now called zelenectide pevedotin</a:t>
            </a:r>
            <a:endParaRPr lang="en-US" sz="1200" dirty="0"/>
          </a:p>
        </p:txBody>
      </p:sp>
      <p:sp>
        <p:nvSpPr>
          <p:cNvPr id="6" name="Shape 4"/>
          <p:cNvSpPr/>
          <p:nvPr/>
        </p:nvSpPr>
        <p:spPr>
          <a:xfrm>
            <a:off x="548640" y="2560320"/>
            <a:ext cx="3840480" cy="20116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7" name="Image 0" descr="C:\Users\soura\Desktop\cancer-peptides-literature-survey\papers\images\mudd-2022-fig3-bt8009-structure.jpg">    </p:cNvPr>
          <p:cNvPicPr>
            <a:picLocks noChangeAspect="1"/>
          </p:cNvPicPr>
          <p:nvPr/>
        </p:nvPicPr>
        <p:blipFill>
          <a:blip r:embed="rId1"/>
          <a:srcRect l="0" r="0" t="0" b="0"/>
          <a:stretch/>
        </p:blipFill>
        <p:spPr>
          <a:xfrm>
            <a:off x="640080" y="2651760"/>
            <a:ext cx="3657600" cy="1554480"/>
          </a:xfrm>
          <a:prstGeom prst="rect">
            <a:avLst/>
          </a:prstGeom>
        </p:spPr>
      </p:pic>
      <p:sp>
        <p:nvSpPr>
          <p:cNvPr id="8" name="Text 5"/>
          <p:cNvSpPr/>
          <p:nvPr/>
        </p:nvSpPr>
        <p:spPr>
          <a:xfrm>
            <a:off x="548640" y="4297680"/>
            <a:ext cx="3840480" cy="27432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BT8009 chemical structure</a:t>
            </a:r>
            <a:endParaRPr lang="en-US" sz="800" dirty="0"/>
          </a:p>
        </p:txBody>
      </p:sp>
      <p:sp>
        <p:nvSpPr>
          <p:cNvPr id="9" name="Shape 6"/>
          <p:cNvSpPr/>
          <p:nvPr/>
        </p:nvSpPr>
        <p:spPr>
          <a:xfrm>
            <a:off x="4754880" y="2560320"/>
            <a:ext cx="3840480" cy="201168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0" name="Image 1" descr="C:\Users\soura\Desktop\cancer-peptides-literature-survey\papers\images\mudd-2022-fig4-efficacy.jpg">    </p:cNvPr>
          <p:cNvPicPr>
            <a:picLocks noChangeAspect="1"/>
          </p:cNvPicPr>
          <p:nvPr/>
        </p:nvPicPr>
        <p:blipFill>
          <a:blip r:embed="rId2"/>
          <a:srcRect l="0" r="0" t="0" b="0"/>
          <a:stretch/>
        </p:blipFill>
        <p:spPr>
          <a:xfrm>
            <a:off x="4846320" y="2651760"/>
            <a:ext cx="3657600" cy="1554480"/>
          </a:xfrm>
          <a:prstGeom prst="rect">
            <a:avLst/>
          </a:prstGeom>
        </p:spPr>
      </p:pic>
      <p:sp>
        <p:nvSpPr>
          <p:cNvPr id="11" name="Text 7"/>
          <p:cNvSpPr/>
          <p:nvPr/>
        </p:nvSpPr>
        <p:spPr>
          <a:xfrm>
            <a:off x="4754880" y="4297680"/>
            <a:ext cx="3840480" cy="274320"/>
          </a:xfrm>
          <a:prstGeom prst="rect">
            <a:avLst/>
          </a:prstGeom>
          <a:noFill/>
          <a:ln/>
        </p:spPr>
        <p:txBody>
          <a:bodyPr wrap="square" lIns="0" tIns="0" rIns="0" bIns="0" rtlCol="0" anchor="ctr"/>
          <a:lstStyle/>
          <a:p>
            <a:pPr algn="ctr" indent="0" marL="0">
              <a:buNone/>
            </a:pPr>
            <a:r>
              <a:rPr lang="en-US" sz="800" dirty="0">
                <a:solidFill>
                  <a:srgbClr val="94A3B8"/>
                </a:solidFill>
                <a:latin typeface="Calibri" pitchFamily="34" charset="0"/>
                <a:ea typeface="Calibri" pitchFamily="34" charset="-122"/>
                <a:cs typeface="Calibri" pitchFamily="34" charset="-120"/>
              </a:rPr>
              <a:t>Near-complete tumor regression</a:t>
            </a:r>
            <a:endParaRPr lang="en-US" sz="800" dirty="0"/>
          </a:p>
        </p:txBody>
      </p:sp>
      <p:sp>
        <p:nvSpPr>
          <p:cNvPr id="12" name="Shape 8"/>
          <p:cNvSpPr/>
          <p:nvPr/>
        </p:nvSpPr>
        <p:spPr>
          <a:xfrm>
            <a:off x="0" y="4869180"/>
            <a:ext cx="9144000" cy="274320"/>
          </a:xfrm>
          <a:prstGeom prst="rect">
            <a:avLst/>
          </a:prstGeom>
          <a:solidFill>
            <a:srgbClr val="0A1628"/>
          </a:solidFill>
          <a:ln/>
        </p:spPr>
      </p:sp>
      <p:sp>
        <p:nvSpPr>
          <p:cNvPr id="13" name="Text 9"/>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Mudd et al. (2022)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Singh (2025)</a:t>
            </a:r>
            <a:endParaRPr lang="en-US" sz="1200" dirty="0"/>
          </a:p>
        </p:txBody>
      </p:sp>
      <p:sp>
        <p:nvSpPr>
          <p:cNvPr id="4" name="Text 2"/>
          <p:cNvSpPr/>
          <p:nvPr/>
        </p:nvSpPr>
        <p:spPr>
          <a:xfrm>
            <a:off x="548640" y="548640"/>
            <a:ext cx="804672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SFTI-G5: First Oral EGFR-Targeting Peptide</a:t>
            </a:r>
            <a:endParaRPr lang="en-US" sz="1800" dirty="0"/>
          </a:p>
        </p:txBody>
      </p:sp>
      <p:sp>
        <p:nvSpPr>
          <p:cNvPr id="5" name="Text 3"/>
          <p:cNvSpPr/>
          <p:nvPr/>
        </p:nvSpPr>
        <p:spPr>
          <a:xfrm>
            <a:off x="548640" y="1280160"/>
            <a:ext cx="804672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EGFR-binding epitope grafted into SFTI-1 sunflower trypsin inhibitor scaffold</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14-aa bicyclic peptide with non-natural Anapa residues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IC50 73 nM on Calu-3 NSCLC; &gt;500-fold selectivity over normal cells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Breakthrough: oral bioavailability confirmed — SFTI scaffold resists digestion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Significant tumor growth delay (p&lt;0.001) in xenograft + metastasis model</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Paradigm shift: anticancer peptide as a pill instead of injection</a:t>
            </a:r>
            <a:endParaRPr lang="en-US" sz="1300" dirty="0"/>
          </a:p>
        </p:txBody>
      </p:sp>
      <p:sp>
        <p:nvSpPr>
          <p:cNvPr id="6" name="Shape 4"/>
          <p:cNvSpPr/>
          <p:nvPr/>
        </p:nvSpPr>
        <p:spPr>
          <a:xfrm>
            <a:off x="0" y="4869180"/>
            <a:ext cx="9144000" cy="274320"/>
          </a:xfrm>
          <a:prstGeom prst="rect">
            <a:avLst/>
          </a:prstGeom>
          <a:solidFill>
            <a:srgbClr val="0A1628"/>
          </a:solidFill>
          <a:ln/>
        </p:spPr>
      </p:sp>
      <p:sp>
        <p:nvSpPr>
          <p:cNvPr id="7" name="Text 5"/>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Singh et al. (2025)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24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A5E9"/>
          </a:solidFill>
          <a:ln/>
        </p:spPr>
      </p:sp>
      <p:sp>
        <p:nvSpPr>
          <p:cNvPr id="3" name="Text 1"/>
          <p:cNvSpPr/>
          <p:nvPr/>
        </p:nvSpPr>
        <p:spPr>
          <a:xfrm>
            <a:off x="731520" y="1280160"/>
            <a:ext cx="7680960" cy="457200"/>
          </a:xfrm>
          <a:prstGeom prst="rect">
            <a:avLst/>
          </a:prstGeom>
          <a:noFill/>
          <a:ln/>
        </p:spPr>
        <p:txBody>
          <a:bodyPr wrap="square" lIns="0" tIns="0" rIns="0" bIns="0" rtlCol="0" anchor="ctr"/>
          <a:lstStyle/>
          <a:p>
            <a:pPr indent="0" marL="0">
              <a:buNone/>
            </a:pPr>
            <a:r>
              <a:rPr lang="en-US" sz="1400" spc="400" kern="0" dirty="0">
                <a:solidFill>
                  <a:srgbClr val="0EA5E9"/>
                </a:solidFill>
                <a:latin typeface="Calibri" pitchFamily="34" charset="0"/>
                <a:ea typeface="Calibri" pitchFamily="34" charset="-122"/>
                <a:cs typeface="Calibri" pitchFamily="34" charset="-120"/>
              </a:rPr>
              <a:t>Section 4</a:t>
            </a:r>
            <a:endParaRPr lang="en-US" sz="1400" dirty="0"/>
          </a:p>
        </p:txBody>
      </p:sp>
      <p:sp>
        <p:nvSpPr>
          <p:cNvPr id="4" name="Text 2"/>
          <p:cNvSpPr/>
          <p:nvPr/>
        </p:nvSpPr>
        <p:spPr>
          <a:xfrm>
            <a:off x="731520" y="1737360"/>
            <a:ext cx="7680960" cy="10972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Nanoparticles and</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Delivery Platforms</a:t>
            </a:r>
            <a:endParaRPr lang="en-US" sz="3600" dirty="0"/>
          </a:p>
        </p:txBody>
      </p:sp>
      <p:sp>
        <p:nvSpPr>
          <p:cNvPr id="5" name="Shape 3"/>
          <p:cNvSpPr/>
          <p:nvPr/>
        </p:nvSpPr>
        <p:spPr>
          <a:xfrm>
            <a:off x="731520" y="3017520"/>
            <a:ext cx="2286000" cy="0"/>
          </a:xfrm>
          <a:prstGeom prst="line">
            <a:avLst/>
          </a:prstGeom>
          <a:noFill/>
          <a:ln w="25400">
            <a:solidFill>
              <a:srgbClr val="1C7293"/>
            </a:solidFill>
            <a:prstDash val="solid"/>
          </a:ln>
        </p:spPr>
      </p:sp>
      <p:sp>
        <p:nvSpPr>
          <p:cNvPr id="6" name="Text 4"/>
          <p:cNvSpPr/>
          <p:nvPr/>
        </p:nvSpPr>
        <p:spPr>
          <a:xfrm>
            <a:off x="731520" y="3291840"/>
            <a:ext cx="7315200" cy="7315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How peptides are being integrated into nanocarrier systems</a:t>
            </a: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for enhanced delivery to lung tumors.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Kim &amp; Park (2024)</a:t>
            </a:r>
            <a:endParaRPr lang="en-US" sz="1200" dirty="0"/>
          </a:p>
        </p:txBody>
      </p:sp>
      <p:sp>
        <p:nvSpPr>
          <p:cNvPr id="4" name="Text 2"/>
          <p:cNvSpPr/>
          <p:nvPr/>
        </p:nvSpPr>
        <p:spPr>
          <a:xfrm>
            <a:off x="548640" y="548640"/>
            <a:ext cx="804672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Functionalized Peptides in Nanomedicine</a:t>
            </a:r>
            <a:endParaRPr lang="en-US" sz="1800" dirty="0"/>
          </a:p>
        </p:txBody>
      </p:sp>
      <p:sp>
        <p:nvSpPr>
          <p:cNvPr id="5" name="Text 3"/>
          <p:cNvSpPr/>
          <p:nvPr/>
        </p:nvSpPr>
        <p:spPr>
          <a:xfrm>
            <a:off x="548640" y="1280160"/>
            <a:ext cx="804672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Three peptide-NP strategies: targeting ligands, self-assembly, stimuli-responsive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Lung highlight: CPP33 + ZIF-90 MOF + survivin siRNA + Oridonin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CPP33-ZIF-90: preferential A549 uptake and tumor reduction in vivo</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Platforms: metal-organic frameworks, gold NPs, mesoporous silica, liposomes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Dual-payload approach combines gene therapy with chemotherapy</a:t>
            </a:r>
            <a:endParaRPr lang="en-US" sz="1300" dirty="0"/>
          </a:p>
        </p:txBody>
      </p:sp>
      <p:sp>
        <p:nvSpPr>
          <p:cNvPr id="6" name="Shape 4"/>
          <p:cNvSpPr/>
          <p:nvPr/>
        </p:nvSpPr>
        <p:spPr>
          <a:xfrm>
            <a:off x="0" y="4869180"/>
            <a:ext cx="9144000" cy="274320"/>
          </a:xfrm>
          <a:prstGeom prst="rect">
            <a:avLst/>
          </a:prstGeom>
          <a:solidFill>
            <a:srgbClr val="0A1628"/>
          </a:solidFill>
          <a:ln/>
        </p:spPr>
      </p:sp>
      <p:sp>
        <p:nvSpPr>
          <p:cNvPr id="7" name="Text 5"/>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Kim &amp; Park et al. (2024)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Lee (2025)</a:t>
            </a:r>
            <a:endParaRPr lang="en-US" sz="1200" dirty="0"/>
          </a:p>
        </p:txBody>
      </p:sp>
      <p:sp>
        <p:nvSpPr>
          <p:cNvPr id="4" name="Text 2"/>
          <p:cNvSpPr/>
          <p:nvPr/>
        </p:nvSpPr>
        <p:spPr>
          <a:xfrm>
            <a:off x="548640" y="548640"/>
            <a:ext cx="804672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Engineered Nanocarriers for Lung Cancer</a:t>
            </a:r>
            <a:endParaRPr lang="en-US" sz="1800" dirty="0"/>
          </a:p>
        </p:txBody>
      </p:sp>
      <p:sp>
        <p:nvSpPr>
          <p:cNvPr id="5" name="Text 3"/>
          <p:cNvSpPr/>
          <p:nvPr/>
        </p:nvSpPr>
        <p:spPr>
          <a:xfrm>
            <a:off x="548640" y="1280160"/>
            <a:ext cx="804672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Comprehensive review: liposomes, PLGA, dendrimers, exosomes, inorganic NPs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Clinical: T-DXd (trastuzumab deruxtecan) — ~55% response in HER2-mutant NSCLC (approved)</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Emerging trend: inhalable nanoparticle systems for direct pulmonary deposition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Stimuli-responsive: pH, enzyme, hypoxia-triggered release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Inhalable delivery bypasses systemic circulation — intuitive for lung cancer</a:t>
            </a:r>
            <a:endParaRPr lang="en-US" sz="1300" dirty="0"/>
          </a:p>
        </p:txBody>
      </p:sp>
      <p:sp>
        <p:nvSpPr>
          <p:cNvPr id="6" name="Shape 4"/>
          <p:cNvSpPr/>
          <p:nvPr/>
        </p:nvSpPr>
        <p:spPr>
          <a:xfrm>
            <a:off x="0" y="4869180"/>
            <a:ext cx="9144000" cy="274320"/>
          </a:xfrm>
          <a:prstGeom prst="rect">
            <a:avLst/>
          </a:prstGeom>
          <a:solidFill>
            <a:srgbClr val="0A1628"/>
          </a:solidFill>
          <a:ln/>
        </p:spPr>
      </p:sp>
      <p:sp>
        <p:nvSpPr>
          <p:cNvPr id="7" name="Text 5"/>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Lee et al. (2025)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24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A5E9"/>
          </a:solidFill>
          <a:ln/>
        </p:spPr>
      </p:sp>
      <p:sp>
        <p:nvSpPr>
          <p:cNvPr id="3" name="Text 1"/>
          <p:cNvSpPr/>
          <p:nvPr/>
        </p:nvSpPr>
        <p:spPr>
          <a:xfrm>
            <a:off x="731520" y="1280160"/>
            <a:ext cx="7680960" cy="457200"/>
          </a:xfrm>
          <a:prstGeom prst="rect">
            <a:avLst/>
          </a:prstGeom>
          <a:noFill/>
          <a:ln/>
        </p:spPr>
        <p:txBody>
          <a:bodyPr wrap="square" lIns="0" tIns="0" rIns="0" bIns="0" rtlCol="0" anchor="ctr"/>
          <a:lstStyle/>
          <a:p>
            <a:pPr indent="0" marL="0">
              <a:buNone/>
            </a:pPr>
            <a:r>
              <a:rPr lang="en-US" sz="1400" spc="400" kern="0" dirty="0">
                <a:solidFill>
                  <a:srgbClr val="0EA5E9"/>
                </a:solidFill>
                <a:latin typeface="Calibri" pitchFamily="34" charset="0"/>
                <a:ea typeface="Calibri" pitchFamily="34" charset="-122"/>
                <a:cs typeface="Calibri" pitchFamily="34" charset="-120"/>
              </a:rPr>
              <a:t>Section 5</a:t>
            </a:r>
            <a:endParaRPr lang="en-US" sz="1400" dirty="0"/>
          </a:p>
        </p:txBody>
      </p:sp>
      <p:sp>
        <p:nvSpPr>
          <p:cNvPr id="4" name="Text 2"/>
          <p:cNvSpPr/>
          <p:nvPr/>
        </p:nvSpPr>
        <p:spPr>
          <a:xfrm>
            <a:off x="731520" y="1737360"/>
            <a:ext cx="7680960" cy="10972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Computational and</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AI-Driven Design</a:t>
            </a:r>
            <a:endParaRPr lang="en-US" sz="3600" dirty="0"/>
          </a:p>
        </p:txBody>
      </p:sp>
      <p:sp>
        <p:nvSpPr>
          <p:cNvPr id="5" name="Shape 3"/>
          <p:cNvSpPr/>
          <p:nvPr/>
        </p:nvSpPr>
        <p:spPr>
          <a:xfrm>
            <a:off x="731520" y="3017520"/>
            <a:ext cx="2286000" cy="0"/>
          </a:xfrm>
          <a:prstGeom prst="line">
            <a:avLst/>
          </a:prstGeom>
          <a:noFill/>
          <a:ln w="25400">
            <a:solidFill>
              <a:srgbClr val="1C7293"/>
            </a:solidFill>
            <a:prstDash val="solid"/>
          </a:ln>
        </p:spPr>
      </p:sp>
      <p:sp>
        <p:nvSpPr>
          <p:cNvPr id="6" name="Text 4"/>
          <p:cNvSpPr/>
          <p:nvPr/>
        </p:nvSpPr>
        <p:spPr>
          <a:xfrm>
            <a:off x="731520" y="3291840"/>
            <a:ext cx="7315200" cy="7315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How AI and machine learning are reshaping peptide design and discovery.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Wu (2025)</a:t>
            </a:r>
            <a:endParaRPr lang="en-US" sz="1200" dirty="0"/>
          </a:p>
        </p:txBody>
      </p:sp>
      <p:sp>
        <p:nvSpPr>
          <p:cNvPr id="4" name="Text 2"/>
          <p:cNvSpPr/>
          <p:nvPr/>
        </p:nvSpPr>
        <p:spPr>
          <a:xfrm>
            <a:off x="548640" y="548640"/>
            <a:ext cx="804672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AI-Driven Anticancer Peptide Discovery</a:t>
            </a:r>
            <a:endParaRPr lang="en-US" sz="1800" dirty="0"/>
          </a:p>
        </p:txBody>
      </p:sp>
      <p:sp>
        <p:nvSpPr>
          <p:cNvPr id="5" name="Text 3"/>
          <p:cNvSpPr/>
          <p:nvPr/>
        </p:nvSpPr>
        <p:spPr>
          <a:xfrm>
            <a:off x="548640" y="1280160"/>
            <a:ext cx="804672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Reviewed 68 AI-based ACP prediction models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Models span: SVM, Random Forest, CNN, LSTM, Transformer, ProtBERT, ESM</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Databases: CancerPPD, ApInAPDB, SATPdb, DBAASP (lung lines in training data)</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4-stage framework: data curation → training → interpretability → wet-lab validation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Critical gap: most models lack experimental validation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No AI-discovered ACP has reached clinical trials — validation gap is real</a:t>
            </a:r>
            <a:endParaRPr lang="en-US" sz="1300" dirty="0"/>
          </a:p>
        </p:txBody>
      </p:sp>
      <p:sp>
        <p:nvSpPr>
          <p:cNvPr id="6" name="Shape 4"/>
          <p:cNvSpPr/>
          <p:nvPr/>
        </p:nvSpPr>
        <p:spPr>
          <a:xfrm>
            <a:off x="0" y="4869180"/>
            <a:ext cx="9144000" cy="274320"/>
          </a:xfrm>
          <a:prstGeom prst="rect">
            <a:avLst/>
          </a:prstGeom>
          <a:solidFill>
            <a:srgbClr val="0A1628"/>
          </a:solidFill>
          <a:ln/>
        </p:spPr>
      </p:sp>
      <p:sp>
        <p:nvSpPr>
          <p:cNvPr id="7" name="Text 5"/>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Wu et al. (2025)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Chowdhury (2025)</a:t>
            </a:r>
            <a:endParaRPr lang="en-US" sz="1200" dirty="0"/>
          </a:p>
        </p:txBody>
      </p:sp>
      <p:sp>
        <p:nvSpPr>
          <p:cNvPr id="4" name="Text 2"/>
          <p:cNvSpPr/>
          <p:nvPr/>
        </p:nvSpPr>
        <p:spPr>
          <a:xfrm>
            <a:off x="548640" y="548640"/>
            <a:ext cx="804672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Molecular Chimera: Grafted Stable Peptides</a:t>
            </a:r>
            <a:endParaRPr lang="en-US" sz="1800" dirty="0"/>
          </a:p>
        </p:txBody>
      </p:sp>
      <p:sp>
        <p:nvSpPr>
          <p:cNvPr id="5" name="Text 3"/>
          <p:cNvSpPr/>
          <p:nvPr/>
        </p:nvSpPr>
        <p:spPr>
          <a:xfrm>
            <a:off x="548640" y="1280160"/>
            <a:ext cx="804672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Concept: plant-derived scaffolds grafted with cancer-targeting epitopes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Cyclotides: 28-37 aa, cyclic cystine knot, 3 disulfide bonds — extraordinary stability</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SFTI-1: 14 aa bicyclic — the scaffold behind Singh's SFTI-G5</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Targets: EGFR, HER2, PD-L1, VEGF, integrins, p53-HDM2</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Key advantage: oral bioavailability from inherent scaffold stability</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Same group (Jois lab, LSU) as Singh 2025 — theory meets practice</a:t>
            </a:r>
            <a:endParaRPr lang="en-US" sz="1300" dirty="0"/>
          </a:p>
        </p:txBody>
      </p:sp>
      <p:sp>
        <p:nvSpPr>
          <p:cNvPr id="6" name="Shape 4"/>
          <p:cNvSpPr/>
          <p:nvPr/>
        </p:nvSpPr>
        <p:spPr>
          <a:xfrm>
            <a:off x="0" y="4869180"/>
            <a:ext cx="9144000" cy="274320"/>
          </a:xfrm>
          <a:prstGeom prst="rect">
            <a:avLst/>
          </a:prstGeom>
          <a:solidFill>
            <a:srgbClr val="0A1628"/>
          </a:solidFill>
          <a:ln/>
        </p:spPr>
      </p:sp>
      <p:sp>
        <p:nvSpPr>
          <p:cNvPr id="7" name="Text 5"/>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Chowdhury et al. (2025)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24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A5E9"/>
          </a:solidFill>
          <a:ln/>
        </p:spPr>
      </p:sp>
      <p:sp>
        <p:nvSpPr>
          <p:cNvPr id="3" name="Text 1"/>
          <p:cNvSpPr/>
          <p:nvPr/>
        </p:nvSpPr>
        <p:spPr>
          <a:xfrm>
            <a:off x="731520" y="1280160"/>
            <a:ext cx="7680960" cy="457200"/>
          </a:xfrm>
          <a:prstGeom prst="rect">
            <a:avLst/>
          </a:prstGeom>
          <a:noFill/>
          <a:ln/>
        </p:spPr>
        <p:txBody>
          <a:bodyPr wrap="square" lIns="0" tIns="0" rIns="0" bIns="0" rtlCol="0" anchor="ctr"/>
          <a:lstStyle/>
          <a:p>
            <a:pPr indent="0" marL="0">
              <a:buNone/>
            </a:pPr>
            <a:r>
              <a:rPr lang="en-US" sz="1400" spc="400" kern="0" dirty="0">
                <a:solidFill>
                  <a:srgbClr val="0EA5E9"/>
                </a:solidFill>
                <a:latin typeface="Calibri" pitchFamily="34" charset="0"/>
                <a:ea typeface="Calibri" pitchFamily="34" charset="-122"/>
                <a:cs typeface="Calibri" pitchFamily="34" charset="-120"/>
              </a:rPr>
              <a:t>Section 6</a:t>
            </a:r>
            <a:endParaRPr lang="en-US" sz="1400" dirty="0"/>
          </a:p>
        </p:txBody>
      </p:sp>
      <p:sp>
        <p:nvSpPr>
          <p:cNvPr id="4" name="Text 2"/>
          <p:cNvSpPr/>
          <p:nvPr/>
        </p:nvSpPr>
        <p:spPr>
          <a:xfrm>
            <a:off x="731520" y="1737360"/>
            <a:ext cx="7680960" cy="10972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Reviews and</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Landscape Papers</a:t>
            </a:r>
            <a:endParaRPr lang="en-US" sz="3600" dirty="0"/>
          </a:p>
        </p:txBody>
      </p:sp>
      <p:sp>
        <p:nvSpPr>
          <p:cNvPr id="5" name="Shape 3"/>
          <p:cNvSpPr/>
          <p:nvPr/>
        </p:nvSpPr>
        <p:spPr>
          <a:xfrm>
            <a:off x="731520" y="3017520"/>
            <a:ext cx="2286000" cy="0"/>
          </a:xfrm>
          <a:prstGeom prst="line">
            <a:avLst/>
          </a:prstGeom>
          <a:noFill/>
          <a:ln w="25400">
            <a:solidFill>
              <a:srgbClr val="1C7293"/>
            </a:solidFill>
            <a:prstDash val="solid"/>
          </a:ln>
        </p:spPr>
      </p:sp>
      <p:sp>
        <p:nvSpPr>
          <p:cNvPr id="6" name="Text 4"/>
          <p:cNvSpPr/>
          <p:nvPr/>
        </p:nvSpPr>
        <p:spPr>
          <a:xfrm>
            <a:off x="731520" y="3291840"/>
            <a:ext cx="7315200" cy="7315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Five review papers providing the broader context for the field.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2743200" cy="36576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Karankar (2025)</a:t>
            </a:r>
            <a:endParaRPr lang="en-US" sz="1200" dirty="0"/>
          </a:p>
        </p:txBody>
      </p:sp>
      <p:sp>
        <p:nvSpPr>
          <p:cNvPr id="4" name="Text 2"/>
          <p:cNvSpPr/>
          <p:nvPr/>
        </p:nvSpPr>
        <p:spPr>
          <a:xfrm>
            <a:off x="548640" y="548640"/>
            <a:ext cx="8046720" cy="54864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Peptide-Driven Strategies Against Lung Cancer</a:t>
            </a:r>
            <a:endParaRPr lang="en-US" sz="1800" dirty="0"/>
          </a:p>
        </p:txBody>
      </p:sp>
      <p:sp>
        <p:nvSpPr>
          <p:cNvPr id="5" name="Text 3"/>
          <p:cNvSpPr/>
          <p:nvPr/>
        </p:nvSpPr>
        <p:spPr>
          <a:xfrm>
            <a:off x="548640" y="1280160"/>
            <a:ext cx="804672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Maps peptides against 6 NSCLC driver mutations: EGFR, TP53, BRAF, MET, ROS1, ALK</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Key peptides: GE11 (EGFR), p28 (p53/azurin), NKTP-3 (KRAS G12D)</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Peptides as bridge between small-molecule TKIs and antibodies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Potential for TKI-resistant tumors — a growing clinical challenge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Gap: zero experimental peptides targeting ALK, ROS1, or MET fusions</a:t>
            </a:r>
            <a:endParaRPr lang="en-US" sz="1300" dirty="0"/>
          </a:p>
        </p:txBody>
      </p:sp>
      <p:sp>
        <p:nvSpPr>
          <p:cNvPr id="6" name="Shape 4"/>
          <p:cNvSpPr/>
          <p:nvPr/>
        </p:nvSpPr>
        <p:spPr>
          <a:xfrm>
            <a:off x="0" y="4869180"/>
            <a:ext cx="9144000" cy="274320"/>
          </a:xfrm>
          <a:prstGeom prst="rect">
            <a:avLst/>
          </a:prstGeom>
          <a:solidFill>
            <a:srgbClr val="0A1628"/>
          </a:solidFill>
          <a:ln/>
        </p:spPr>
      </p:sp>
      <p:sp>
        <p:nvSpPr>
          <p:cNvPr id="7" name="Text 5"/>
          <p:cNvSpPr/>
          <p:nvPr/>
        </p:nvSpPr>
        <p:spPr>
          <a:xfrm>
            <a:off x="548640" y="4869180"/>
            <a:ext cx="365760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Karankar et al. (2025)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457200" y="365760"/>
            <a:ext cx="3931920" cy="4389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457200" y="365760"/>
            <a:ext cx="3931920" cy="54864"/>
          </a:xfrm>
          <a:prstGeom prst="rect">
            <a:avLst/>
          </a:prstGeom>
          <a:solidFill>
            <a:srgbClr val="0EA5E9"/>
          </a:solidFill>
          <a:ln/>
        </p:spPr>
      </p:sp>
      <p:sp>
        <p:nvSpPr>
          <p:cNvPr id="5" name="Text 3"/>
          <p:cNvSpPr/>
          <p:nvPr/>
        </p:nvSpPr>
        <p:spPr>
          <a:xfrm>
            <a:off x="731520" y="594360"/>
            <a:ext cx="3383280" cy="36576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Karati et al. (2025)</a:t>
            </a:r>
            <a:endParaRPr lang="en-US" sz="1100" dirty="0"/>
          </a:p>
        </p:txBody>
      </p:sp>
      <p:sp>
        <p:nvSpPr>
          <p:cNvPr id="6" name="Text 4"/>
          <p:cNvSpPr/>
          <p:nvPr/>
        </p:nvSpPr>
        <p:spPr>
          <a:xfrm>
            <a:off x="731520" y="914400"/>
            <a:ext cx="33832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Peptide Drugs &amp; Chemoresistance</a:t>
            </a:r>
            <a:endParaRPr lang="en-US" sz="1500" dirty="0"/>
          </a:p>
        </p:txBody>
      </p:sp>
      <p:sp>
        <p:nvSpPr>
          <p:cNvPr id="7" name="Text 5"/>
          <p:cNvSpPr/>
          <p:nvPr/>
        </p:nvSpPr>
        <p:spPr>
          <a:xfrm>
            <a:off x="731520" y="1463040"/>
            <a:ext cx="3383280" cy="29260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rPr>
              <a:t>ACPs bypass P-glycoprotein efflux via membrane disruption</a:t>
            </a:r>
            <a:endParaRPr lang="en-US" sz="1100" dirty="0"/>
          </a:p>
          <a:p>
            <a:pPr marL="342900" indent="-342900">
              <a:spcAft>
                <a:spcPts val="600"/>
              </a:spcAft>
              <a:buSzPct val="100000"/>
              <a:buChar char="•"/>
            </a:pPr>
            <a:r>
              <a:rPr lang="en-US" sz="1100" dirty="0">
                <a:solidFill>
                  <a:srgbClr val="1E293B"/>
                </a:solidFill>
              </a:rPr>
              <a:t>Fundamentally different from conventional drug mechanisms</a:t>
            </a:r>
            <a:endParaRPr lang="en-US" sz="1100" dirty="0"/>
          </a:p>
          <a:p>
            <a:pPr marL="342900" indent="-342900">
              <a:spcAft>
                <a:spcPts val="600"/>
              </a:spcAft>
              <a:buSzPct val="100000"/>
              <a:buChar char="•"/>
            </a:pPr>
            <a:r>
              <a:rPr lang="en-US" sz="1100" dirty="0">
                <a:solidFill>
                  <a:srgbClr val="1E293B"/>
                </a:solidFill>
              </a:rPr>
              <a:t>Targets DNA repair, EMT, apoptosis evasion simultaneously</a:t>
            </a:r>
            <a:endParaRPr lang="en-US" sz="1100" dirty="0"/>
          </a:p>
          <a:p>
            <a:pPr marL="342900" indent="-342900">
              <a:spcAft>
                <a:spcPts val="600"/>
              </a:spcAft>
              <a:buSzPct val="100000"/>
              <a:buChar char="•"/>
            </a:pPr>
            <a:r>
              <a:rPr lang="en-US" sz="1100" dirty="0">
                <a:solidFill>
                  <a:srgbClr val="1E293B"/>
                </a:solidFill>
              </a:rPr>
              <a:t>Challenge: short half-life remains primary limitation</a:t>
            </a:r>
            <a:endParaRPr lang="en-US" sz="1100" dirty="0"/>
          </a:p>
        </p:txBody>
      </p:sp>
      <p:sp>
        <p:nvSpPr>
          <p:cNvPr id="8" name="Shape 6"/>
          <p:cNvSpPr/>
          <p:nvPr/>
        </p:nvSpPr>
        <p:spPr>
          <a:xfrm>
            <a:off x="4754880" y="365760"/>
            <a:ext cx="3931920" cy="4389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365760"/>
            <a:ext cx="3931920" cy="54864"/>
          </a:xfrm>
          <a:prstGeom prst="rect">
            <a:avLst/>
          </a:prstGeom>
          <a:solidFill>
            <a:srgbClr val="0EA5E9"/>
          </a:solidFill>
          <a:ln/>
        </p:spPr>
      </p:sp>
      <p:sp>
        <p:nvSpPr>
          <p:cNvPr id="10" name="Text 8"/>
          <p:cNvSpPr/>
          <p:nvPr/>
        </p:nvSpPr>
        <p:spPr>
          <a:xfrm>
            <a:off x="5029200" y="594360"/>
            <a:ext cx="3383280" cy="36576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Nhan et al. (2023)</a:t>
            </a:r>
            <a:endParaRPr lang="en-US" sz="1100" dirty="0"/>
          </a:p>
        </p:txBody>
      </p:sp>
      <p:sp>
        <p:nvSpPr>
          <p:cNvPr id="11" name="Text 9"/>
          <p:cNvSpPr/>
          <p:nvPr/>
        </p:nvSpPr>
        <p:spPr>
          <a:xfrm>
            <a:off x="5029200" y="914400"/>
            <a:ext cx="33832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Peptide-Based Agents for Cancer</a:t>
            </a:r>
            <a:endParaRPr lang="en-US" sz="1500" dirty="0"/>
          </a:p>
        </p:txBody>
      </p:sp>
      <p:sp>
        <p:nvSpPr>
          <p:cNvPr id="12" name="Text 10"/>
          <p:cNvSpPr/>
          <p:nvPr/>
        </p:nvSpPr>
        <p:spPr>
          <a:xfrm>
            <a:off x="5029200" y="1463040"/>
            <a:ext cx="3383280" cy="29260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rPr>
              <a:t>Broadest scope: 56 pre-clinical + 10 clinical-stage peptides</a:t>
            </a:r>
            <a:endParaRPr lang="en-US" sz="1100" dirty="0"/>
          </a:p>
          <a:p>
            <a:pPr marL="342900" indent="-342900">
              <a:spcAft>
                <a:spcPts val="600"/>
              </a:spcAft>
              <a:buSzPct val="100000"/>
              <a:buChar char="•"/>
            </a:pPr>
            <a:r>
              <a:rPr lang="en-US" sz="1100" dirty="0">
                <a:solidFill>
                  <a:srgbClr val="1E293B"/>
                </a:solidFill>
              </a:rPr>
              <a:t>Clinical: LUNA18 (KRAS), p28 (p53), ALRN-6924</a:t>
            </a:r>
            <a:endParaRPr lang="en-US" sz="1100" dirty="0"/>
          </a:p>
          <a:p>
            <a:pPr marL="342900" indent="-342900">
              <a:spcAft>
                <a:spcPts val="600"/>
              </a:spcAft>
              <a:buSzPct val="100000"/>
              <a:buChar char="•"/>
            </a:pPr>
            <a:r>
              <a:rPr lang="en-US" sz="1100" dirty="0">
                <a:solidFill>
                  <a:srgbClr val="1E293B"/>
                </a:solidFill>
              </a:rPr>
              <a:t>Lung: NKTP-3, KRpep-2d, 99mTc-3PRGD2 imaging</a:t>
            </a:r>
            <a:endParaRPr lang="en-US" sz="1100" dirty="0"/>
          </a:p>
          <a:p>
            <a:pPr marL="342900" indent="-342900">
              <a:spcAft>
                <a:spcPts val="600"/>
              </a:spcAft>
              <a:buSzPct val="100000"/>
              <a:buChar char="•"/>
            </a:pPr>
            <a:r>
              <a:rPr lang="en-US" sz="1100" dirty="0">
                <a:solidFill>
                  <a:srgbClr val="1E293B"/>
                </a:solidFill>
              </a:rPr>
              <a:t>FDA history: Leuprorelin (1985) to Carfilzomib (2012)</a:t>
            </a:r>
            <a:endParaRPr lang="en-US" sz="1100" dirty="0"/>
          </a:p>
        </p:txBody>
      </p:sp>
      <p:sp>
        <p:nvSpPr>
          <p:cNvPr id="13" name="Shape 11"/>
          <p:cNvSpPr/>
          <p:nvPr/>
        </p:nvSpPr>
        <p:spPr>
          <a:xfrm>
            <a:off x="0" y="4869180"/>
            <a:ext cx="9144000" cy="274320"/>
          </a:xfrm>
          <a:prstGeom prst="rect">
            <a:avLst/>
          </a:prstGeom>
          <a:solidFill>
            <a:srgbClr val="0A1628"/>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Shape 1"/>
          <p:cNvSpPr/>
          <p:nvPr/>
        </p:nvSpPr>
        <p:spPr>
          <a:xfrm>
            <a:off x="457200" y="365760"/>
            <a:ext cx="3931920" cy="4389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457200" y="365760"/>
            <a:ext cx="3931920" cy="54864"/>
          </a:xfrm>
          <a:prstGeom prst="rect">
            <a:avLst/>
          </a:prstGeom>
          <a:solidFill>
            <a:srgbClr val="0EA5E9"/>
          </a:solidFill>
          <a:ln/>
        </p:spPr>
      </p:sp>
      <p:sp>
        <p:nvSpPr>
          <p:cNvPr id="5" name="Text 3"/>
          <p:cNvSpPr/>
          <p:nvPr/>
        </p:nvSpPr>
        <p:spPr>
          <a:xfrm>
            <a:off x="731520" y="594360"/>
            <a:ext cx="3383280" cy="36576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Alamdari-palangi et al. (2023)</a:t>
            </a:r>
            <a:endParaRPr lang="en-US" sz="1100" dirty="0"/>
          </a:p>
        </p:txBody>
      </p:sp>
      <p:sp>
        <p:nvSpPr>
          <p:cNvPr id="6" name="Text 4"/>
          <p:cNvSpPr/>
          <p:nvPr/>
        </p:nvSpPr>
        <p:spPr>
          <a:xfrm>
            <a:off x="731520" y="914400"/>
            <a:ext cx="33832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Peptide-Agent Conjugates</a:t>
            </a:r>
            <a:endParaRPr lang="en-US" sz="1500" dirty="0"/>
          </a:p>
        </p:txBody>
      </p:sp>
      <p:sp>
        <p:nvSpPr>
          <p:cNvPr id="7" name="Text 5"/>
          <p:cNvSpPr/>
          <p:nvPr/>
        </p:nvSpPr>
        <p:spPr>
          <a:xfrm>
            <a:off x="731520" y="1463040"/>
            <a:ext cx="3383280" cy="29260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rPr>
              <a:t>PDC landscape: design principles, linker chemistry</a:t>
            </a:r>
            <a:endParaRPr lang="en-US" sz="1100" dirty="0"/>
          </a:p>
          <a:p>
            <a:pPr marL="342900" indent="-342900">
              <a:spcAft>
                <a:spcPts val="600"/>
              </a:spcAft>
              <a:buSzPct val="100000"/>
              <a:buChar char="•"/>
            </a:pPr>
            <a:r>
              <a:rPr lang="en-US" sz="1100" dirty="0">
                <a:solidFill>
                  <a:srgbClr val="1E293B"/>
                </a:solidFill>
              </a:rPr>
              <a:t>28 clinical trials of peptide-drug conjugates cataloged</a:t>
            </a:r>
            <a:endParaRPr lang="en-US" sz="1100" dirty="0"/>
          </a:p>
          <a:p>
            <a:pPr marL="342900" indent="-342900">
              <a:spcAft>
                <a:spcPts val="600"/>
              </a:spcAft>
              <a:buSzPct val="100000"/>
              <a:buChar char="•"/>
            </a:pPr>
            <a:r>
              <a:rPr lang="en-US" sz="1100" dirty="0">
                <a:solidFill>
                  <a:srgbClr val="1E293B"/>
                </a:solidFill>
              </a:rPr>
              <a:t>60+ approved peptide therapeutics; 12 FDA/EMA cancer drugs</a:t>
            </a:r>
            <a:endParaRPr lang="en-US" sz="1100" dirty="0"/>
          </a:p>
          <a:p>
            <a:pPr marL="342900" indent="-342900">
              <a:spcAft>
                <a:spcPts val="600"/>
              </a:spcAft>
              <a:buSzPct val="100000"/>
              <a:buChar char="•"/>
            </a:pPr>
            <a:r>
              <a:rPr lang="en-US" sz="1100" dirty="0">
                <a:solidFill>
                  <a:srgbClr val="1E293B"/>
                </a:solidFill>
              </a:rPr>
              <a:t>BT8009 featured as key next-gen design example</a:t>
            </a:r>
            <a:endParaRPr lang="en-US" sz="1100" dirty="0"/>
          </a:p>
        </p:txBody>
      </p:sp>
      <p:sp>
        <p:nvSpPr>
          <p:cNvPr id="8" name="Shape 6"/>
          <p:cNvSpPr/>
          <p:nvPr/>
        </p:nvSpPr>
        <p:spPr>
          <a:xfrm>
            <a:off x="4754880" y="365760"/>
            <a:ext cx="3931920" cy="4389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365760"/>
            <a:ext cx="3931920" cy="54864"/>
          </a:xfrm>
          <a:prstGeom prst="rect">
            <a:avLst/>
          </a:prstGeom>
          <a:solidFill>
            <a:srgbClr val="0EA5E9"/>
          </a:solidFill>
          <a:ln/>
        </p:spPr>
      </p:sp>
      <p:sp>
        <p:nvSpPr>
          <p:cNvPr id="10" name="Text 8"/>
          <p:cNvSpPr/>
          <p:nvPr/>
        </p:nvSpPr>
        <p:spPr>
          <a:xfrm>
            <a:off x="5029200" y="594360"/>
            <a:ext cx="3383280" cy="36576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Bauso et al. (2024)</a:t>
            </a:r>
            <a:endParaRPr lang="en-US" sz="1100" dirty="0"/>
          </a:p>
        </p:txBody>
      </p:sp>
      <p:sp>
        <p:nvSpPr>
          <p:cNvPr id="11" name="Text 9"/>
          <p:cNvSpPr/>
          <p:nvPr/>
        </p:nvSpPr>
        <p:spPr>
          <a:xfrm>
            <a:off x="5029200" y="914400"/>
            <a:ext cx="338328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Natural &amp; Synthetic ACPs</a:t>
            </a:r>
            <a:endParaRPr lang="en-US" sz="1500" dirty="0"/>
          </a:p>
        </p:txBody>
      </p:sp>
      <p:sp>
        <p:nvSpPr>
          <p:cNvPr id="12" name="Text 10"/>
          <p:cNvSpPr/>
          <p:nvPr/>
        </p:nvSpPr>
        <p:spPr>
          <a:xfrm>
            <a:off x="5029200" y="1463040"/>
            <a:ext cx="3383280" cy="29260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rPr>
              <a:t>ACPs across 10 cancer types; 7 lung peptides cataloged</a:t>
            </a:r>
            <a:endParaRPr lang="en-US" sz="1100" dirty="0"/>
          </a:p>
          <a:p>
            <a:pPr marL="342900" indent="-342900">
              <a:spcAft>
                <a:spcPts val="600"/>
              </a:spcAft>
              <a:buSzPct val="100000"/>
              <a:buChar char="•"/>
            </a:pPr>
            <a:r>
              <a:rPr lang="en-US" sz="1100" dirty="0">
                <a:solidFill>
                  <a:srgbClr val="1E293B"/>
                </a:solidFill>
              </a:rPr>
              <a:t>Lung: MANS, FCHO1, TMEM39AS41, MP06, AC-P19M, DTX-P7</a:t>
            </a:r>
            <a:endParaRPr lang="en-US" sz="1100" dirty="0"/>
          </a:p>
          <a:p>
            <a:pPr marL="342900" indent="-342900">
              <a:spcAft>
                <a:spcPts val="600"/>
              </a:spcAft>
              <a:buSzPct val="100000"/>
              <a:buChar char="•"/>
            </a:pPr>
            <a:r>
              <a:rPr lang="en-US" sz="1100" dirty="0">
                <a:solidFill>
                  <a:srgbClr val="1E293B"/>
                </a:solidFill>
              </a:rPr>
              <a:t>&gt;1,000 clinical trials using ACPs globally</a:t>
            </a:r>
            <a:endParaRPr lang="en-US" sz="1100" dirty="0"/>
          </a:p>
          <a:p>
            <a:pPr marL="342900" indent="-342900">
              <a:spcAft>
                <a:spcPts val="600"/>
              </a:spcAft>
              <a:buSzPct val="100000"/>
              <a:buChar char="•"/>
            </a:pPr>
            <a:r>
              <a:rPr lang="en-US" sz="1100" dirty="0">
                <a:solidFill>
                  <a:srgbClr val="1E293B"/>
                </a:solidFill>
              </a:rPr>
              <a:t>AC-P19M: 5-fold more toxicity to cancer vs normal cells</a:t>
            </a:r>
            <a:endParaRPr lang="en-US" sz="1100" dirty="0"/>
          </a:p>
        </p:txBody>
      </p:sp>
      <p:sp>
        <p:nvSpPr>
          <p:cNvPr id="13" name="Shape 11"/>
          <p:cNvSpPr/>
          <p:nvPr/>
        </p:nvSpPr>
        <p:spPr>
          <a:xfrm>
            <a:off x="0" y="4869180"/>
            <a:ext cx="9144000" cy="274320"/>
          </a:xfrm>
          <a:prstGeom prst="rect">
            <a:avLst/>
          </a:prstGeom>
          <a:solidFill>
            <a:srgbClr val="0A1628"/>
          </a:solidFill>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224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A5E9"/>
          </a:solidFill>
          <a:ln/>
        </p:spPr>
      </p:sp>
      <p:sp>
        <p:nvSpPr>
          <p:cNvPr id="3" name="Text 1"/>
          <p:cNvSpPr/>
          <p:nvPr/>
        </p:nvSpPr>
        <p:spPr>
          <a:xfrm>
            <a:off x="731520" y="1280160"/>
            <a:ext cx="7680960" cy="457200"/>
          </a:xfrm>
          <a:prstGeom prst="rect">
            <a:avLst/>
          </a:prstGeom>
          <a:noFill/>
          <a:ln/>
        </p:spPr>
        <p:txBody>
          <a:bodyPr wrap="square" lIns="0" tIns="0" rIns="0" bIns="0" rtlCol="0" anchor="ctr"/>
          <a:lstStyle/>
          <a:p>
            <a:pPr indent="0" marL="0">
              <a:buNone/>
            </a:pPr>
            <a:r>
              <a:rPr lang="en-US" sz="1400" spc="400" kern="0" dirty="0">
                <a:solidFill>
                  <a:srgbClr val="0EA5E9"/>
                </a:solidFill>
                <a:latin typeface="Calibri" pitchFamily="34" charset="0"/>
                <a:ea typeface="Calibri" pitchFamily="34" charset="-122"/>
                <a:cs typeface="Calibri" pitchFamily="34" charset="-120"/>
              </a:rPr>
              <a:t>Section 7</a:t>
            </a:r>
            <a:endParaRPr lang="en-US" sz="1400" dirty="0"/>
          </a:p>
        </p:txBody>
      </p:sp>
      <p:sp>
        <p:nvSpPr>
          <p:cNvPr id="4" name="Text 2"/>
          <p:cNvSpPr/>
          <p:nvPr/>
        </p:nvSpPr>
        <p:spPr>
          <a:xfrm>
            <a:off x="731520" y="1737360"/>
            <a:ext cx="7680960" cy="10972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Cross-Cutting</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Analysis</a:t>
            </a:r>
            <a:endParaRPr lang="en-US" sz="3600" dirty="0"/>
          </a:p>
        </p:txBody>
      </p:sp>
      <p:sp>
        <p:nvSpPr>
          <p:cNvPr id="5" name="Shape 3"/>
          <p:cNvSpPr/>
          <p:nvPr/>
        </p:nvSpPr>
        <p:spPr>
          <a:xfrm>
            <a:off x="731520" y="3017520"/>
            <a:ext cx="2286000" cy="0"/>
          </a:xfrm>
          <a:prstGeom prst="line">
            <a:avLst/>
          </a:prstGeom>
          <a:noFill/>
          <a:ln w="25400">
            <a:solidFill>
              <a:srgbClr val="1C7293"/>
            </a:solidFill>
            <a:prstDash val="solid"/>
          </a:ln>
        </p:spPr>
      </p:sp>
      <p:sp>
        <p:nvSpPr>
          <p:cNvPr id="6" name="Text 4"/>
          <p:cNvSpPr/>
          <p:nvPr/>
        </p:nvSpPr>
        <p:spPr>
          <a:xfrm>
            <a:off x="731520" y="3291840"/>
            <a:ext cx="7315200" cy="7315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Patterns and insights across all 19 papers.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Method Evolution (2014 → 2025)</a:t>
            </a:r>
            <a:endParaRPr lang="en-US" sz="2200" dirty="0"/>
          </a:p>
        </p:txBody>
      </p:sp>
      <p:sp>
        <p:nvSpPr>
          <p:cNvPr id="4" name="Shape 2"/>
          <p:cNvSpPr/>
          <p:nvPr/>
        </p:nvSpPr>
        <p:spPr>
          <a:xfrm>
            <a:off x="548640" y="1005840"/>
            <a:ext cx="73152" cy="640080"/>
          </a:xfrm>
          <a:prstGeom prst="rect">
            <a:avLst/>
          </a:prstGeom>
          <a:solidFill>
            <a:srgbClr val="065A82"/>
          </a:solidFill>
          <a:ln/>
        </p:spPr>
      </p:sp>
      <p:sp>
        <p:nvSpPr>
          <p:cNvPr id="5" name="Text 3"/>
          <p:cNvSpPr/>
          <p:nvPr/>
        </p:nvSpPr>
        <p:spPr>
          <a:xfrm>
            <a:off x="822960" y="1005840"/>
            <a:ext cx="201168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Phage Display</a:t>
            </a:r>
            <a:endParaRPr lang="en-US" sz="1400" dirty="0"/>
          </a:p>
        </p:txBody>
      </p:sp>
      <p:sp>
        <p:nvSpPr>
          <p:cNvPr id="6" name="Text 4"/>
          <p:cNvSpPr/>
          <p:nvPr/>
        </p:nvSpPr>
        <p:spPr>
          <a:xfrm>
            <a:off x="822960" y="1280160"/>
            <a:ext cx="201168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2014-2018</a:t>
            </a:r>
            <a:endParaRPr lang="en-US" sz="1100" dirty="0"/>
          </a:p>
        </p:txBody>
      </p:sp>
      <p:sp>
        <p:nvSpPr>
          <p:cNvPr id="7" name="Text 5"/>
          <p:cNvSpPr/>
          <p:nvPr/>
        </p:nvSpPr>
        <p:spPr>
          <a:xfrm>
            <a:off x="3017520" y="1005840"/>
            <a:ext cx="36576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Cell-based biopanning, iterative selection</a:t>
            </a:r>
            <a:endParaRPr lang="en-US" sz="1200" dirty="0"/>
          </a:p>
        </p:txBody>
      </p:sp>
      <p:sp>
        <p:nvSpPr>
          <p:cNvPr id="8" name="Text 6"/>
          <p:cNvSpPr/>
          <p:nvPr/>
        </p:nvSpPr>
        <p:spPr>
          <a:xfrm>
            <a:off x="6858000" y="1005840"/>
            <a:ext cx="2011680" cy="640080"/>
          </a:xfrm>
          <a:prstGeom prst="rect">
            <a:avLst/>
          </a:prstGeom>
          <a:noFill/>
          <a:ln/>
        </p:spPr>
        <p:txBody>
          <a:bodyPr wrap="square" lIns="0" tIns="0" rIns="0" bIns="0" rtlCol="0" anchor="ctr"/>
          <a:lstStyle/>
          <a:p>
            <a:pPr indent="0" marL="0">
              <a:buNone/>
            </a:pPr>
            <a:r>
              <a:rPr lang="en-US" sz="1100" dirty="0">
                <a:solidFill>
                  <a:srgbClr val="1C7293"/>
                </a:solidFill>
                <a:latin typeface="Calibri" pitchFamily="34" charset="0"/>
                <a:ea typeface="Calibri" pitchFamily="34" charset="-122"/>
                <a:cs typeface="Calibri" pitchFamily="34" charset="-120"/>
              </a:rPr>
              <a:t>McGuire, Chi, Bakhshinejad</a:t>
            </a:r>
            <a:endParaRPr lang="en-US" sz="1100" dirty="0"/>
          </a:p>
        </p:txBody>
      </p:sp>
      <p:sp>
        <p:nvSpPr>
          <p:cNvPr id="9" name="Shape 7"/>
          <p:cNvSpPr/>
          <p:nvPr/>
        </p:nvSpPr>
        <p:spPr>
          <a:xfrm>
            <a:off x="548640" y="1783080"/>
            <a:ext cx="73152" cy="640080"/>
          </a:xfrm>
          <a:prstGeom prst="rect">
            <a:avLst/>
          </a:prstGeom>
          <a:solidFill>
            <a:srgbClr val="1C7293"/>
          </a:solidFill>
          <a:ln/>
        </p:spPr>
      </p:sp>
      <p:sp>
        <p:nvSpPr>
          <p:cNvPr id="10" name="Text 8"/>
          <p:cNvSpPr/>
          <p:nvPr/>
        </p:nvSpPr>
        <p:spPr>
          <a:xfrm>
            <a:off x="822960" y="1783080"/>
            <a:ext cx="201168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NGS + Computation</a:t>
            </a:r>
            <a:endParaRPr lang="en-US" sz="1400" dirty="0"/>
          </a:p>
        </p:txBody>
      </p:sp>
      <p:sp>
        <p:nvSpPr>
          <p:cNvPr id="11" name="Text 9"/>
          <p:cNvSpPr/>
          <p:nvPr/>
        </p:nvSpPr>
        <p:spPr>
          <a:xfrm>
            <a:off x="822960" y="2057400"/>
            <a:ext cx="201168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2022</a:t>
            </a:r>
            <a:endParaRPr lang="en-US" sz="1100" dirty="0"/>
          </a:p>
        </p:txBody>
      </p:sp>
      <p:sp>
        <p:nvSpPr>
          <p:cNvPr id="12" name="Text 10"/>
          <p:cNvSpPr/>
          <p:nvPr/>
        </p:nvSpPr>
        <p:spPr>
          <a:xfrm>
            <a:off x="3017520" y="1783080"/>
            <a:ext cx="36576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Phage display + sequencing; virtual screening</a:t>
            </a:r>
            <a:endParaRPr lang="en-US" sz="1200" dirty="0"/>
          </a:p>
        </p:txBody>
      </p:sp>
      <p:sp>
        <p:nvSpPr>
          <p:cNvPr id="13" name="Text 11"/>
          <p:cNvSpPr/>
          <p:nvPr/>
        </p:nvSpPr>
        <p:spPr>
          <a:xfrm>
            <a:off x="6858000" y="1783080"/>
            <a:ext cx="2011680" cy="640080"/>
          </a:xfrm>
          <a:prstGeom prst="rect">
            <a:avLst/>
          </a:prstGeom>
          <a:noFill/>
          <a:ln/>
        </p:spPr>
        <p:txBody>
          <a:bodyPr wrap="square" lIns="0" tIns="0" rIns="0" bIns="0" rtlCol="0" anchor="ctr"/>
          <a:lstStyle/>
          <a:p>
            <a:pPr indent="0" marL="0">
              <a:buNone/>
            </a:pPr>
            <a:r>
              <a:rPr lang="en-US" sz="1100" dirty="0">
                <a:solidFill>
                  <a:srgbClr val="1C7293"/>
                </a:solidFill>
                <a:latin typeface="Calibri" pitchFamily="34" charset="0"/>
                <a:ea typeface="Calibri" pitchFamily="34" charset="-122"/>
                <a:cs typeface="Calibri" pitchFamily="34" charset="-120"/>
              </a:rPr>
              <a:t>Furman, Zhou</a:t>
            </a:r>
            <a:endParaRPr lang="en-US" sz="1100" dirty="0"/>
          </a:p>
        </p:txBody>
      </p:sp>
      <p:sp>
        <p:nvSpPr>
          <p:cNvPr id="14" name="Shape 12"/>
          <p:cNvSpPr/>
          <p:nvPr/>
        </p:nvSpPr>
        <p:spPr>
          <a:xfrm>
            <a:off x="548640" y="2560320"/>
            <a:ext cx="73152" cy="640080"/>
          </a:xfrm>
          <a:prstGeom prst="rect">
            <a:avLst/>
          </a:prstGeom>
          <a:solidFill>
            <a:srgbClr val="0EA5E9"/>
          </a:solidFill>
          <a:ln/>
        </p:spPr>
      </p:sp>
      <p:sp>
        <p:nvSpPr>
          <p:cNvPr id="15" name="Text 13"/>
          <p:cNvSpPr/>
          <p:nvPr/>
        </p:nvSpPr>
        <p:spPr>
          <a:xfrm>
            <a:off x="822960" y="2560320"/>
            <a:ext cx="201168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De Novo Design</a:t>
            </a:r>
            <a:endParaRPr lang="en-US" sz="1400" dirty="0"/>
          </a:p>
        </p:txBody>
      </p:sp>
      <p:sp>
        <p:nvSpPr>
          <p:cNvPr id="16" name="Text 14"/>
          <p:cNvSpPr/>
          <p:nvPr/>
        </p:nvSpPr>
        <p:spPr>
          <a:xfrm>
            <a:off x="822960" y="2834640"/>
            <a:ext cx="201168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2022</a:t>
            </a:r>
            <a:endParaRPr lang="en-US" sz="1100" dirty="0"/>
          </a:p>
        </p:txBody>
      </p:sp>
      <p:sp>
        <p:nvSpPr>
          <p:cNvPr id="17" name="Text 15"/>
          <p:cNvSpPr/>
          <p:nvPr/>
        </p:nvSpPr>
        <p:spPr>
          <a:xfrm>
            <a:off x="3017520" y="2560320"/>
            <a:ext cx="36576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AI-predicted sequences; rational amphiphilic design</a:t>
            </a:r>
            <a:endParaRPr lang="en-US" sz="1200" dirty="0"/>
          </a:p>
        </p:txBody>
      </p:sp>
      <p:sp>
        <p:nvSpPr>
          <p:cNvPr id="18" name="Text 16"/>
          <p:cNvSpPr/>
          <p:nvPr/>
        </p:nvSpPr>
        <p:spPr>
          <a:xfrm>
            <a:off x="6858000" y="2560320"/>
            <a:ext cx="2011680" cy="640080"/>
          </a:xfrm>
          <a:prstGeom prst="rect">
            <a:avLst/>
          </a:prstGeom>
          <a:noFill/>
          <a:ln/>
        </p:spPr>
        <p:txBody>
          <a:bodyPr wrap="square" lIns="0" tIns="0" rIns="0" bIns="0" rtlCol="0" anchor="ctr"/>
          <a:lstStyle/>
          <a:p>
            <a:pPr indent="0" marL="0">
              <a:buNone/>
            </a:pPr>
            <a:r>
              <a:rPr lang="en-US" sz="1100" dirty="0">
                <a:solidFill>
                  <a:srgbClr val="1C7293"/>
                </a:solidFill>
                <a:latin typeface="Calibri" pitchFamily="34" charset="0"/>
                <a:ea typeface="Calibri" pitchFamily="34" charset="-122"/>
                <a:cs typeface="Calibri" pitchFamily="34" charset="-120"/>
              </a:rPr>
              <a:t>Shin, Yang</a:t>
            </a:r>
            <a:endParaRPr lang="en-US" sz="1100" dirty="0"/>
          </a:p>
        </p:txBody>
      </p:sp>
      <p:sp>
        <p:nvSpPr>
          <p:cNvPr id="19" name="Shape 17"/>
          <p:cNvSpPr/>
          <p:nvPr/>
        </p:nvSpPr>
        <p:spPr>
          <a:xfrm>
            <a:off x="548640" y="3337560"/>
            <a:ext cx="73152" cy="640080"/>
          </a:xfrm>
          <a:prstGeom prst="rect">
            <a:avLst/>
          </a:prstGeom>
          <a:solidFill>
            <a:srgbClr val="10B981"/>
          </a:solidFill>
          <a:ln/>
        </p:spPr>
      </p:sp>
      <p:sp>
        <p:nvSpPr>
          <p:cNvPr id="20" name="Text 18"/>
          <p:cNvSpPr/>
          <p:nvPr/>
        </p:nvSpPr>
        <p:spPr>
          <a:xfrm>
            <a:off x="822960" y="3337560"/>
            <a:ext cx="201168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Scaffold Engineering</a:t>
            </a:r>
            <a:endParaRPr lang="en-US" sz="1400" dirty="0"/>
          </a:p>
        </p:txBody>
      </p:sp>
      <p:sp>
        <p:nvSpPr>
          <p:cNvPr id="21" name="Text 19"/>
          <p:cNvSpPr/>
          <p:nvPr/>
        </p:nvSpPr>
        <p:spPr>
          <a:xfrm>
            <a:off x="822960" y="3611880"/>
            <a:ext cx="201168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2025</a:t>
            </a:r>
            <a:endParaRPr lang="en-US" sz="1100" dirty="0"/>
          </a:p>
        </p:txBody>
      </p:sp>
      <p:sp>
        <p:nvSpPr>
          <p:cNvPr id="22" name="Text 20"/>
          <p:cNvSpPr/>
          <p:nvPr/>
        </p:nvSpPr>
        <p:spPr>
          <a:xfrm>
            <a:off x="3017520" y="3337560"/>
            <a:ext cx="36576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Plant scaffolds grafted with targeting epitopes</a:t>
            </a:r>
            <a:endParaRPr lang="en-US" sz="1200" dirty="0"/>
          </a:p>
        </p:txBody>
      </p:sp>
      <p:sp>
        <p:nvSpPr>
          <p:cNvPr id="23" name="Text 21"/>
          <p:cNvSpPr/>
          <p:nvPr/>
        </p:nvSpPr>
        <p:spPr>
          <a:xfrm>
            <a:off x="6858000" y="3337560"/>
            <a:ext cx="2011680" cy="640080"/>
          </a:xfrm>
          <a:prstGeom prst="rect">
            <a:avLst/>
          </a:prstGeom>
          <a:noFill/>
          <a:ln/>
        </p:spPr>
        <p:txBody>
          <a:bodyPr wrap="square" lIns="0" tIns="0" rIns="0" bIns="0" rtlCol="0" anchor="ctr"/>
          <a:lstStyle/>
          <a:p>
            <a:pPr indent="0" marL="0">
              <a:buNone/>
            </a:pPr>
            <a:r>
              <a:rPr lang="en-US" sz="1100" dirty="0">
                <a:solidFill>
                  <a:srgbClr val="1C7293"/>
                </a:solidFill>
                <a:latin typeface="Calibri" pitchFamily="34" charset="0"/>
                <a:ea typeface="Calibri" pitchFamily="34" charset="-122"/>
                <a:cs typeface="Calibri" pitchFamily="34" charset="-120"/>
              </a:rPr>
              <a:t>Singh, Chowdhury</a:t>
            </a:r>
            <a:endParaRPr lang="en-US" sz="1100" dirty="0"/>
          </a:p>
        </p:txBody>
      </p:sp>
      <p:sp>
        <p:nvSpPr>
          <p:cNvPr id="24" name="Shape 22"/>
          <p:cNvSpPr/>
          <p:nvPr/>
        </p:nvSpPr>
        <p:spPr>
          <a:xfrm>
            <a:off x="548640" y="4114800"/>
            <a:ext cx="73152" cy="640080"/>
          </a:xfrm>
          <a:prstGeom prst="rect">
            <a:avLst/>
          </a:prstGeom>
          <a:solidFill>
            <a:srgbClr val="8B5CF6"/>
          </a:solidFill>
          <a:ln/>
        </p:spPr>
      </p:sp>
      <p:sp>
        <p:nvSpPr>
          <p:cNvPr id="25" name="Text 23"/>
          <p:cNvSpPr/>
          <p:nvPr/>
        </p:nvSpPr>
        <p:spPr>
          <a:xfrm>
            <a:off x="822960" y="4114800"/>
            <a:ext cx="201168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AI/ML at Scale</a:t>
            </a:r>
            <a:endParaRPr lang="en-US" sz="1400" dirty="0"/>
          </a:p>
        </p:txBody>
      </p:sp>
      <p:sp>
        <p:nvSpPr>
          <p:cNvPr id="26" name="Text 24"/>
          <p:cNvSpPr/>
          <p:nvPr/>
        </p:nvSpPr>
        <p:spPr>
          <a:xfrm>
            <a:off x="822960" y="4389120"/>
            <a:ext cx="201168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2025</a:t>
            </a:r>
            <a:endParaRPr lang="en-US" sz="1100" dirty="0"/>
          </a:p>
        </p:txBody>
      </p:sp>
      <p:sp>
        <p:nvSpPr>
          <p:cNvPr id="27" name="Text 25"/>
          <p:cNvSpPr/>
          <p:nvPr/>
        </p:nvSpPr>
        <p:spPr>
          <a:xfrm>
            <a:off x="3017520" y="4114800"/>
            <a:ext cx="365760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68 models; language models; end-to-end</a:t>
            </a:r>
            <a:endParaRPr lang="en-US" sz="1200" dirty="0"/>
          </a:p>
        </p:txBody>
      </p:sp>
      <p:sp>
        <p:nvSpPr>
          <p:cNvPr id="28" name="Text 26"/>
          <p:cNvSpPr/>
          <p:nvPr/>
        </p:nvSpPr>
        <p:spPr>
          <a:xfrm>
            <a:off x="6858000" y="4114800"/>
            <a:ext cx="2011680" cy="640080"/>
          </a:xfrm>
          <a:prstGeom prst="rect">
            <a:avLst/>
          </a:prstGeom>
          <a:noFill/>
          <a:ln/>
        </p:spPr>
        <p:txBody>
          <a:bodyPr wrap="square" lIns="0" tIns="0" rIns="0" bIns="0" rtlCol="0" anchor="ctr"/>
          <a:lstStyle/>
          <a:p>
            <a:pPr indent="0" marL="0">
              <a:buNone/>
            </a:pPr>
            <a:r>
              <a:rPr lang="en-US" sz="1100" dirty="0">
                <a:solidFill>
                  <a:srgbClr val="1C7293"/>
                </a:solidFill>
                <a:latin typeface="Calibri" pitchFamily="34" charset="0"/>
                <a:ea typeface="Calibri" pitchFamily="34" charset="-122"/>
                <a:cs typeface="Calibri" pitchFamily="34" charset="-120"/>
              </a:rPr>
              <a:t>Wu</a:t>
            </a:r>
            <a:endParaRPr lang="en-US" sz="1100" dirty="0"/>
          </a:p>
        </p:txBody>
      </p:sp>
      <p:sp>
        <p:nvSpPr>
          <p:cNvPr id="29" name="Text 27"/>
          <p:cNvSpPr/>
          <p:nvPr/>
        </p:nvSpPr>
        <p:spPr>
          <a:xfrm>
            <a:off x="548640" y="4572000"/>
            <a:ext cx="8046720" cy="365760"/>
          </a:xfrm>
          <a:prstGeom prst="rect">
            <a:avLst/>
          </a:prstGeom>
          <a:noFill/>
          <a:ln/>
        </p:spPr>
        <p:txBody>
          <a:bodyPr wrap="square" lIns="0" tIns="0" rIns="0" bIns="0" rtlCol="0" anchor="ctr"/>
          <a:lstStyle/>
          <a:p>
            <a:pPr algn="ctr" indent="0" marL="0">
              <a:buNone/>
            </a:pPr>
            <a:r>
              <a:rPr lang="en-US" sz="1200" i="1" dirty="0">
                <a:solidFill>
                  <a:srgbClr val="0EA5E9"/>
                </a:solidFill>
                <a:latin typeface="Calibri" pitchFamily="34" charset="0"/>
                <a:ea typeface="Calibri" pitchFamily="34" charset="-122"/>
                <a:cs typeface="Calibri" pitchFamily="34" charset="-120"/>
              </a:rPr>
              <a:t>Empirical screening  →  Rational, computationally guided design</a:t>
            </a:r>
            <a:endParaRPr lang="en-US" sz="1200" dirty="0"/>
          </a:p>
        </p:txBody>
      </p:sp>
      <p:sp>
        <p:nvSpPr>
          <p:cNvPr id="30" name="Shape 28"/>
          <p:cNvSpPr/>
          <p:nvPr/>
        </p:nvSpPr>
        <p:spPr>
          <a:xfrm>
            <a:off x="0" y="4869180"/>
            <a:ext cx="9144000" cy="274320"/>
          </a:xfrm>
          <a:prstGeom prst="rect">
            <a:avLst/>
          </a:prstGeom>
          <a:solidFill>
            <a:srgbClr val="0A1628"/>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Target Landscape</a:t>
            </a:r>
            <a:endParaRPr lang="en-US" sz="2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914400"/>
        </p:xfrm>
        <a:graphic>
          <a:graphicData uri="http://schemas.openxmlformats.org/drawingml/2006/table">
            <a:tbl>
              <a:tblPr/>
              <a:tblGrid>
                <a:gridCol w="1828800"/>
                <a:gridCol w="914400"/>
                <a:gridCol w="3200400"/>
                <a:gridCol w="210312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Papers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Most Advanced Peptide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365760">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EGFR/HER2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SFTI-G5 (oral, IC50 73 nM)</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Pre-clinical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Nectin-4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BT8009-MMAE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Phase I/II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KRAS G12D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NKTP-3, LUNA18</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Phase I/II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p53/HDM2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p28 (azurin)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Phase 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PD-1/PD-L1</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Cyclotide grafts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Early research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KRAS G12C</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GAP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r>
              <a:tr h="365760">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ALK/ROS1/MET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l" indent="0" marL="0">
                        <a:buNone/>
                      </a:pPr>
                      <a:r>
                        <a:rPr lang="en-US" sz="1100" dirty="0">
                          <a:solidFill>
                            <a:srgbClr val="1E29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algn="ctr" indent="0" marL="0">
                        <a:buNone/>
                      </a:pPr>
                      <a:r>
                        <a:rPr lang="en-US" sz="1100" b="1" dirty="0">
                          <a:solidFill>
                            <a:srgbClr val="EF4444"/>
                          </a:solidFill>
                          <a:latin typeface="Calibri" pitchFamily="34" charset="0"/>
                          <a:ea typeface="Calibri" pitchFamily="34" charset="-122"/>
                          <a:cs typeface="Calibri" pitchFamily="34" charset="-120"/>
                        </a:rPr>
                        <a:t>GAP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r>
            </a:tbl>
          </a:graphicData>
        </a:graphic>
      </p:graphicFrame>
      <p:sp>
        <p:nvSpPr>
          <p:cNvPr id="5" name="Text 2"/>
          <p:cNvSpPr/>
          <p:nvPr/>
        </p:nvSpPr>
        <p:spPr>
          <a:xfrm>
            <a:off x="548640" y="4114800"/>
            <a:ext cx="8046720" cy="365760"/>
          </a:xfrm>
          <a:prstGeom prst="rect">
            <a:avLst/>
          </a:prstGeom>
          <a:noFill/>
          <a:ln/>
        </p:spPr>
        <p:txBody>
          <a:bodyPr wrap="square" lIns="0" tIns="0" rIns="0" bIns="0" rtlCol="0" anchor="ctr"/>
          <a:lstStyle/>
          <a:p>
            <a:pPr indent="0" marL="0">
              <a:buNone/>
            </a:pPr>
            <a:r>
              <a:rPr lang="en-US" sz="1100" i="1" dirty="0">
                <a:solidFill>
                  <a:srgbClr val="EF4444"/>
                </a:solidFill>
                <a:latin typeface="Calibri" pitchFamily="34" charset="0"/>
                <a:ea typeface="Calibri" pitchFamily="34" charset="-122"/>
                <a:cs typeface="Calibri" pitchFamily="34" charset="-120"/>
              </a:rPr>
              <a:t>Red rows = significant unmet needs with zero experimental peptides</a:t>
            </a:r>
            <a:endParaRPr lang="en-US" sz="1100" dirty="0"/>
          </a:p>
        </p:txBody>
      </p:sp>
      <p:sp>
        <p:nvSpPr>
          <p:cNvPr id="6" name="Shape 3"/>
          <p:cNvSpPr/>
          <p:nvPr/>
        </p:nvSpPr>
        <p:spPr>
          <a:xfrm>
            <a:off x="0" y="4869180"/>
            <a:ext cx="9144000" cy="274320"/>
          </a:xfrm>
          <a:prstGeom prst="rect">
            <a:avLst/>
          </a:prstGeom>
          <a:solidFill>
            <a:srgbClr val="0A1628"/>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Top Performers — Quantitative Efficacy</a:t>
            </a:r>
            <a:endParaRPr lang="en-US" sz="2200" dirty="0"/>
          </a:p>
        </p:txBody>
      </p:sp>
      <p:sp>
        <p:nvSpPr>
          <p:cNvPr id="4" name="Shape 2"/>
          <p:cNvSpPr/>
          <p:nvPr/>
        </p:nvSpPr>
        <p:spPr>
          <a:xfrm>
            <a:off x="548640" y="1005840"/>
            <a:ext cx="25603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548640" y="1005840"/>
            <a:ext cx="2560320" cy="54864"/>
          </a:xfrm>
          <a:prstGeom prst="rect">
            <a:avLst/>
          </a:prstGeom>
          <a:solidFill>
            <a:srgbClr val="065A82"/>
          </a:solidFill>
          <a:ln/>
        </p:spPr>
      </p:sp>
      <p:sp>
        <p:nvSpPr>
          <p:cNvPr id="6" name="Text 4"/>
          <p:cNvSpPr/>
          <p:nvPr/>
        </p:nvSpPr>
        <p:spPr>
          <a:xfrm>
            <a:off x="685800" y="1143000"/>
            <a:ext cx="2286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Best Binding</a:t>
            </a:r>
            <a:endParaRPr lang="en-US" sz="1100" dirty="0"/>
          </a:p>
        </p:txBody>
      </p:sp>
      <p:sp>
        <p:nvSpPr>
          <p:cNvPr id="7" name="Text 5"/>
          <p:cNvSpPr/>
          <p:nvPr/>
        </p:nvSpPr>
        <p:spPr>
          <a:xfrm>
            <a:off x="685800" y="1463040"/>
            <a:ext cx="2286000" cy="548640"/>
          </a:xfrm>
          <a:prstGeom prst="rect">
            <a:avLst/>
          </a:prstGeom>
          <a:noFill/>
          <a:ln/>
        </p:spPr>
        <p:txBody>
          <a:bodyPr wrap="square" lIns="0" tIns="0" rIns="0" bIns="0" rtlCol="0" anchor="ctr"/>
          <a:lstStyle/>
          <a:p>
            <a:pPr indent="0" marL="0">
              <a:buNone/>
            </a:pPr>
            <a:r>
              <a:rPr lang="en-US" sz="2400" b="1" dirty="0">
                <a:solidFill>
                  <a:srgbClr val="065A82"/>
                </a:solidFill>
                <a:latin typeface="Georgia" pitchFamily="34" charset="0"/>
                <a:ea typeface="Georgia" pitchFamily="34" charset="-122"/>
                <a:cs typeface="Georgia" pitchFamily="34" charset="-120"/>
              </a:rPr>
              <a:t>KD 0.0071 nM</a:t>
            </a:r>
            <a:endParaRPr lang="en-US" sz="2400" dirty="0"/>
          </a:p>
        </p:txBody>
      </p:sp>
      <p:sp>
        <p:nvSpPr>
          <p:cNvPr id="8" name="Text 6"/>
          <p:cNvSpPr/>
          <p:nvPr/>
        </p:nvSpPr>
        <p:spPr>
          <a:xfrm>
            <a:off x="685800" y="2057400"/>
            <a:ext cx="228600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McGuire tetramers</a:t>
            </a:r>
            <a:endParaRPr lang="en-US" sz="1100" dirty="0"/>
          </a:p>
        </p:txBody>
      </p:sp>
      <p:sp>
        <p:nvSpPr>
          <p:cNvPr id="9" name="Shape 7"/>
          <p:cNvSpPr/>
          <p:nvPr/>
        </p:nvSpPr>
        <p:spPr>
          <a:xfrm>
            <a:off x="3383280" y="1005840"/>
            <a:ext cx="25603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3383280" y="1005840"/>
            <a:ext cx="2560320" cy="54864"/>
          </a:xfrm>
          <a:prstGeom prst="rect">
            <a:avLst/>
          </a:prstGeom>
          <a:solidFill>
            <a:srgbClr val="1C7293"/>
          </a:solidFill>
          <a:ln/>
        </p:spPr>
      </p:sp>
      <p:sp>
        <p:nvSpPr>
          <p:cNvPr id="11" name="Text 9"/>
          <p:cNvSpPr/>
          <p:nvPr/>
        </p:nvSpPr>
        <p:spPr>
          <a:xfrm>
            <a:off x="3520440" y="1143000"/>
            <a:ext cx="2286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Best IC50 (conjugate)</a:t>
            </a:r>
            <a:endParaRPr lang="en-US" sz="1100" dirty="0"/>
          </a:p>
        </p:txBody>
      </p:sp>
      <p:sp>
        <p:nvSpPr>
          <p:cNvPr id="12" name="Text 10"/>
          <p:cNvSpPr/>
          <p:nvPr/>
        </p:nvSpPr>
        <p:spPr>
          <a:xfrm>
            <a:off x="3520440" y="1463040"/>
            <a:ext cx="2286000" cy="548640"/>
          </a:xfrm>
          <a:prstGeom prst="rect">
            <a:avLst/>
          </a:prstGeom>
          <a:noFill/>
          <a:ln/>
        </p:spPr>
        <p:txBody>
          <a:bodyPr wrap="square" lIns="0" tIns="0" rIns="0" bIns="0" rtlCol="0" anchor="ctr"/>
          <a:lstStyle/>
          <a:p>
            <a:pPr indent="0" marL="0">
              <a:buNone/>
            </a:pPr>
            <a:r>
              <a:rPr lang="en-US" sz="2400" b="1" dirty="0">
                <a:solidFill>
                  <a:srgbClr val="1C7293"/>
                </a:solidFill>
                <a:latin typeface="Georgia" pitchFamily="34" charset="0"/>
                <a:ea typeface="Georgia" pitchFamily="34" charset="-122"/>
                <a:cs typeface="Georgia" pitchFamily="34" charset="-120"/>
              </a:rPr>
              <a:t>9.4 nM</a:t>
            </a:r>
            <a:endParaRPr lang="en-US" sz="2400" dirty="0"/>
          </a:p>
        </p:txBody>
      </p:sp>
      <p:sp>
        <p:nvSpPr>
          <p:cNvPr id="13" name="Text 11"/>
          <p:cNvSpPr/>
          <p:nvPr/>
        </p:nvSpPr>
        <p:spPr>
          <a:xfrm>
            <a:off x="3520440" y="2057400"/>
            <a:ext cx="228600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MGS4_V8-saporin</a:t>
            </a:r>
            <a:endParaRPr lang="en-US" sz="1100" dirty="0"/>
          </a:p>
        </p:txBody>
      </p:sp>
      <p:sp>
        <p:nvSpPr>
          <p:cNvPr id="14" name="Shape 12"/>
          <p:cNvSpPr/>
          <p:nvPr/>
        </p:nvSpPr>
        <p:spPr>
          <a:xfrm>
            <a:off x="6217920" y="1005840"/>
            <a:ext cx="25603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217920" y="1005840"/>
            <a:ext cx="2560320" cy="54864"/>
          </a:xfrm>
          <a:prstGeom prst="rect">
            <a:avLst/>
          </a:prstGeom>
          <a:solidFill>
            <a:srgbClr val="0EA5E9"/>
          </a:solidFill>
          <a:ln/>
        </p:spPr>
      </p:sp>
      <p:sp>
        <p:nvSpPr>
          <p:cNvPr id="16" name="Text 14"/>
          <p:cNvSpPr/>
          <p:nvPr/>
        </p:nvSpPr>
        <p:spPr>
          <a:xfrm>
            <a:off x="6355080" y="1143000"/>
            <a:ext cx="2286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Best IC50 (free)</a:t>
            </a:r>
            <a:endParaRPr lang="en-US" sz="1100" dirty="0"/>
          </a:p>
        </p:txBody>
      </p:sp>
      <p:sp>
        <p:nvSpPr>
          <p:cNvPr id="17" name="Text 15"/>
          <p:cNvSpPr/>
          <p:nvPr/>
        </p:nvSpPr>
        <p:spPr>
          <a:xfrm>
            <a:off x="6355080" y="1463040"/>
            <a:ext cx="2286000" cy="548640"/>
          </a:xfrm>
          <a:prstGeom prst="rect">
            <a:avLst/>
          </a:prstGeom>
          <a:noFill/>
          <a:ln/>
        </p:spPr>
        <p:txBody>
          <a:bodyPr wrap="square" lIns="0" tIns="0" rIns="0" bIns="0" rtlCol="0" anchor="ctr"/>
          <a:lstStyle/>
          <a:p>
            <a:pPr indent="0" marL="0">
              <a:buNone/>
            </a:pPr>
            <a:r>
              <a:rPr lang="en-US" sz="2400" b="1" dirty="0">
                <a:solidFill>
                  <a:srgbClr val="0EA5E9"/>
                </a:solidFill>
                <a:latin typeface="Georgia" pitchFamily="34" charset="0"/>
                <a:ea typeface="Georgia" pitchFamily="34" charset="-122"/>
                <a:cs typeface="Georgia" pitchFamily="34" charset="-120"/>
              </a:rPr>
              <a:t>73 nM</a:t>
            </a:r>
            <a:endParaRPr lang="en-US" sz="2400" dirty="0"/>
          </a:p>
        </p:txBody>
      </p:sp>
      <p:sp>
        <p:nvSpPr>
          <p:cNvPr id="18" name="Text 16"/>
          <p:cNvSpPr/>
          <p:nvPr/>
        </p:nvSpPr>
        <p:spPr>
          <a:xfrm>
            <a:off x="6355080" y="2057400"/>
            <a:ext cx="228600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SFTI-G5</a:t>
            </a:r>
            <a:endParaRPr lang="en-US" sz="1100" dirty="0"/>
          </a:p>
        </p:txBody>
      </p:sp>
      <p:sp>
        <p:nvSpPr>
          <p:cNvPr id="19" name="Shape 17"/>
          <p:cNvSpPr/>
          <p:nvPr/>
        </p:nvSpPr>
        <p:spPr>
          <a:xfrm>
            <a:off x="548640" y="2926080"/>
            <a:ext cx="25603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548640" y="2926080"/>
            <a:ext cx="2560320" cy="54864"/>
          </a:xfrm>
          <a:prstGeom prst="rect">
            <a:avLst/>
          </a:prstGeom>
          <a:solidFill>
            <a:srgbClr val="10B981"/>
          </a:solidFill>
          <a:ln/>
        </p:spPr>
      </p:sp>
      <p:sp>
        <p:nvSpPr>
          <p:cNvPr id="21" name="Text 19"/>
          <p:cNvSpPr/>
          <p:nvPr/>
        </p:nvSpPr>
        <p:spPr>
          <a:xfrm>
            <a:off x="685800" y="3063240"/>
            <a:ext cx="2286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Tumor Reduction</a:t>
            </a:r>
            <a:endParaRPr lang="en-US" sz="1100" dirty="0"/>
          </a:p>
        </p:txBody>
      </p:sp>
      <p:sp>
        <p:nvSpPr>
          <p:cNvPr id="22" name="Text 20"/>
          <p:cNvSpPr/>
          <p:nvPr/>
        </p:nvSpPr>
        <p:spPr>
          <a:xfrm>
            <a:off x="685800" y="3383280"/>
            <a:ext cx="2286000" cy="548640"/>
          </a:xfrm>
          <a:prstGeom prst="rect">
            <a:avLst/>
          </a:prstGeom>
          <a:noFill/>
          <a:ln/>
        </p:spPr>
        <p:txBody>
          <a:bodyPr wrap="square" lIns="0" tIns="0" rIns="0" bIns="0" rtlCol="0" anchor="ctr"/>
          <a:lstStyle/>
          <a:p>
            <a:pPr indent="0" marL="0">
              <a:buNone/>
            </a:pPr>
            <a:r>
              <a:rPr lang="en-US" sz="2400" b="1" dirty="0">
                <a:solidFill>
                  <a:srgbClr val="10B981"/>
                </a:solidFill>
                <a:latin typeface="Georgia" pitchFamily="34" charset="0"/>
                <a:ea typeface="Georgia" pitchFamily="34" charset="-122"/>
                <a:cs typeface="Georgia" pitchFamily="34" charset="-120"/>
              </a:rPr>
              <a:t>-81.6%</a:t>
            </a:r>
            <a:endParaRPr lang="en-US" sz="2400" dirty="0"/>
          </a:p>
        </p:txBody>
      </p:sp>
      <p:sp>
        <p:nvSpPr>
          <p:cNvPr id="23" name="Text 21"/>
          <p:cNvSpPr/>
          <p:nvPr/>
        </p:nvSpPr>
        <p:spPr>
          <a:xfrm>
            <a:off x="685800" y="3977640"/>
            <a:ext cx="228600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K4F6K4 (Day 28)</a:t>
            </a:r>
            <a:endParaRPr lang="en-US" sz="1100" dirty="0"/>
          </a:p>
        </p:txBody>
      </p:sp>
      <p:sp>
        <p:nvSpPr>
          <p:cNvPr id="24" name="Shape 22"/>
          <p:cNvSpPr/>
          <p:nvPr/>
        </p:nvSpPr>
        <p:spPr>
          <a:xfrm>
            <a:off x="3383280" y="2926080"/>
            <a:ext cx="25603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3"/>
          <p:cNvSpPr/>
          <p:nvPr/>
        </p:nvSpPr>
        <p:spPr>
          <a:xfrm>
            <a:off x="3383280" y="2926080"/>
            <a:ext cx="2560320" cy="54864"/>
          </a:xfrm>
          <a:prstGeom prst="rect">
            <a:avLst/>
          </a:prstGeom>
          <a:solidFill>
            <a:srgbClr val="F59E0B"/>
          </a:solidFill>
          <a:ln/>
        </p:spPr>
      </p:sp>
      <p:sp>
        <p:nvSpPr>
          <p:cNvPr id="26" name="Text 24"/>
          <p:cNvSpPr/>
          <p:nvPr/>
        </p:nvSpPr>
        <p:spPr>
          <a:xfrm>
            <a:off x="3520440" y="3063240"/>
            <a:ext cx="2286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Survival Extension</a:t>
            </a:r>
            <a:endParaRPr lang="en-US" sz="1100" dirty="0"/>
          </a:p>
        </p:txBody>
      </p:sp>
      <p:sp>
        <p:nvSpPr>
          <p:cNvPr id="27" name="Text 25"/>
          <p:cNvSpPr/>
          <p:nvPr/>
        </p:nvSpPr>
        <p:spPr>
          <a:xfrm>
            <a:off x="3520440" y="3383280"/>
            <a:ext cx="2286000" cy="548640"/>
          </a:xfrm>
          <a:prstGeom prst="rect">
            <a:avLst/>
          </a:prstGeom>
          <a:noFill/>
          <a:ln/>
        </p:spPr>
        <p:txBody>
          <a:bodyPr wrap="square" lIns="0" tIns="0" rIns="0" bIns="0" rtlCol="0" anchor="ctr"/>
          <a:lstStyle/>
          <a:p>
            <a:pPr indent="0" marL="0">
              <a:buNone/>
            </a:pPr>
            <a:r>
              <a:rPr lang="en-US" sz="2400" b="1" dirty="0">
                <a:solidFill>
                  <a:srgbClr val="F59E0B"/>
                </a:solidFill>
                <a:latin typeface="Georgia" pitchFamily="34" charset="0"/>
                <a:ea typeface="Georgia" pitchFamily="34" charset="-122"/>
                <a:cs typeface="Georgia" pitchFamily="34" charset="-120"/>
              </a:rPr>
              <a:t>+47 days</a:t>
            </a:r>
            <a:endParaRPr lang="en-US" sz="2400" dirty="0"/>
          </a:p>
        </p:txBody>
      </p:sp>
      <p:sp>
        <p:nvSpPr>
          <p:cNvPr id="28" name="Text 26"/>
          <p:cNvSpPr/>
          <p:nvPr/>
        </p:nvSpPr>
        <p:spPr>
          <a:xfrm>
            <a:off x="3520440" y="3977640"/>
            <a:ext cx="228600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HSP4-PLD</a:t>
            </a:r>
            <a:endParaRPr lang="en-US" sz="1100" dirty="0"/>
          </a:p>
        </p:txBody>
      </p:sp>
      <p:sp>
        <p:nvSpPr>
          <p:cNvPr id="29" name="Shape 27"/>
          <p:cNvSpPr/>
          <p:nvPr/>
        </p:nvSpPr>
        <p:spPr>
          <a:xfrm>
            <a:off x="6217920" y="2926080"/>
            <a:ext cx="25603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0" name="Shape 28"/>
          <p:cNvSpPr/>
          <p:nvPr/>
        </p:nvSpPr>
        <p:spPr>
          <a:xfrm>
            <a:off x="6217920" y="2926080"/>
            <a:ext cx="2560320" cy="54864"/>
          </a:xfrm>
          <a:prstGeom prst="rect">
            <a:avLst/>
          </a:prstGeom>
          <a:solidFill>
            <a:srgbClr val="8B5CF6"/>
          </a:solidFill>
          <a:ln/>
        </p:spPr>
      </p:sp>
      <p:sp>
        <p:nvSpPr>
          <p:cNvPr id="31" name="Text 29"/>
          <p:cNvSpPr/>
          <p:nvPr/>
        </p:nvSpPr>
        <p:spPr>
          <a:xfrm>
            <a:off x="6355080" y="3063240"/>
            <a:ext cx="2286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Selectivity</a:t>
            </a:r>
            <a:endParaRPr lang="en-US" sz="1100" dirty="0"/>
          </a:p>
        </p:txBody>
      </p:sp>
      <p:sp>
        <p:nvSpPr>
          <p:cNvPr id="32" name="Text 30"/>
          <p:cNvSpPr/>
          <p:nvPr/>
        </p:nvSpPr>
        <p:spPr>
          <a:xfrm>
            <a:off x="6355080" y="3383280"/>
            <a:ext cx="2286000" cy="548640"/>
          </a:xfrm>
          <a:prstGeom prst="rect">
            <a:avLst/>
          </a:prstGeom>
          <a:noFill/>
          <a:ln/>
        </p:spPr>
        <p:txBody>
          <a:bodyPr wrap="square" lIns="0" tIns="0" rIns="0" bIns="0" rtlCol="0" anchor="ctr"/>
          <a:lstStyle/>
          <a:p>
            <a:pPr indent="0" marL="0">
              <a:buNone/>
            </a:pPr>
            <a:r>
              <a:rPr lang="en-US" sz="2400" b="1" dirty="0">
                <a:solidFill>
                  <a:srgbClr val="8B5CF6"/>
                </a:solidFill>
                <a:latin typeface="Georgia" pitchFamily="34" charset="0"/>
                <a:ea typeface="Georgia" pitchFamily="34" charset="-122"/>
                <a:cs typeface="Georgia" pitchFamily="34" charset="-120"/>
              </a:rPr>
              <a:t>&gt;500-fold</a:t>
            </a:r>
            <a:endParaRPr lang="en-US" sz="2400" dirty="0"/>
          </a:p>
        </p:txBody>
      </p:sp>
      <p:sp>
        <p:nvSpPr>
          <p:cNvPr id="33" name="Text 31"/>
          <p:cNvSpPr/>
          <p:nvPr/>
        </p:nvSpPr>
        <p:spPr>
          <a:xfrm>
            <a:off x="6355080" y="3977640"/>
            <a:ext cx="228600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SFTI-G5</a:t>
            </a:r>
            <a:endParaRPr lang="en-US" sz="1100" dirty="0"/>
          </a:p>
        </p:txBody>
      </p:sp>
      <p:sp>
        <p:nvSpPr>
          <p:cNvPr id="34" name="Shape 32"/>
          <p:cNvSpPr/>
          <p:nvPr/>
        </p:nvSpPr>
        <p:spPr>
          <a:xfrm>
            <a:off x="0" y="4869180"/>
            <a:ext cx="9144000" cy="274320"/>
          </a:xfrm>
          <a:prstGeom prst="rect">
            <a:avLst/>
          </a:prstGeom>
          <a:solidFill>
            <a:srgbClr val="0A1628"/>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Clinical Translation Pipeline</a:t>
            </a:r>
            <a:endParaRPr lang="en-US" sz="2200" dirty="0"/>
          </a:p>
        </p:txBody>
      </p:sp>
      <p:sp>
        <p:nvSpPr>
          <p:cNvPr id="4" name="Shape 2"/>
          <p:cNvSpPr/>
          <p:nvPr/>
        </p:nvSpPr>
        <p:spPr>
          <a:xfrm>
            <a:off x="548640" y="1097280"/>
            <a:ext cx="8046720" cy="73152"/>
          </a:xfrm>
          <a:prstGeom prst="rect">
            <a:avLst/>
          </a:prstGeom>
          <a:solidFill>
            <a:srgbClr val="E2E8F0"/>
          </a:solidFill>
          <a:ln/>
        </p:spPr>
      </p:sp>
      <p:sp>
        <p:nvSpPr>
          <p:cNvPr id="5" name="Shape 3"/>
          <p:cNvSpPr/>
          <p:nvPr/>
        </p:nvSpPr>
        <p:spPr>
          <a:xfrm>
            <a:off x="548640" y="1097280"/>
            <a:ext cx="1828800" cy="73152"/>
          </a:xfrm>
          <a:prstGeom prst="rect">
            <a:avLst/>
          </a:prstGeom>
          <a:solidFill>
            <a:srgbClr val="94A3B8"/>
          </a:solidFill>
          <a:ln/>
        </p:spPr>
      </p:sp>
      <p:sp>
        <p:nvSpPr>
          <p:cNvPr id="6" name="Text 4"/>
          <p:cNvSpPr/>
          <p:nvPr/>
        </p:nvSpPr>
        <p:spPr>
          <a:xfrm>
            <a:off x="548640" y="1234440"/>
            <a:ext cx="22860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Discovery / In Vitro</a:t>
            </a:r>
            <a:endParaRPr lang="en-US" sz="1400" dirty="0"/>
          </a:p>
        </p:txBody>
      </p:sp>
      <p:sp>
        <p:nvSpPr>
          <p:cNvPr id="7" name="Text 5"/>
          <p:cNvSpPr/>
          <p:nvPr/>
        </p:nvSpPr>
        <p:spPr>
          <a:xfrm>
            <a:off x="3017520" y="1234440"/>
            <a:ext cx="41148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LCP1, AC-P19M, P6/P9</a:t>
            </a:r>
            <a:endParaRPr lang="en-US" sz="1200" dirty="0"/>
          </a:p>
        </p:txBody>
      </p:sp>
      <p:sp>
        <p:nvSpPr>
          <p:cNvPr id="8" name="Text 6"/>
          <p:cNvSpPr/>
          <p:nvPr/>
        </p:nvSpPr>
        <p:spPr>
          <a:xfrm>
            <a:off x="7315200" y="1234440"/>
            <a:ext cx="128016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3 papers</a:t>
            </a:r>
            <a:endParaRPr lang="en-US" sz="1100" dirty="0"/>
          </a:p>
        </p:txBody>
      </p:sp>
      <p:sp>
        <p:nvSpPr>
          <p:cNvPr id="9" name="Shape 7"/>
          <p:cNvSpPr/>
          <p:nvPr/>
        </p:nvSpPr>
        <p:spPr>
          <a:xfrm>
            <a:off x="548640" y="2011680"/>
            <a:ext cx="8046720" cy="73152"/>
          </a:xfrm>
          <a:prstGeom prst="rect">
            <a:avLst/>
          </a:prstGeom>
          <a:solidFill>
            <a:srgbClr val="E2E8F0"/>
          </a:solidFill>
          <a:ln/>
        </p:spPr>
      </p:sp>
      <p:sp>
        <p:nvSpPr>
          <p:cNvPr id="10" name="Shape 8"/>
          <p:cNvSpPr/>
          <p:nvPr/>
        </p:nvSpPr>
        <p:spPr>
          <a:xfrm>
            <a:off x="548640" y="2011680"/>
            <a:ext cx="2926080" cy="73152"/>
          </a:xfrm>
          <a:prstGeom prst="rect">
            <a:avLst/>
          </a:prstGeom>
          <a:solidFill>
            <a:srgbClr val="1C7293"/>
          </a:solidFill>
          <a:ln/>
        </p:spPr>
      </p:sp>
      <p:sp>
        <p:nvSpPr>
          <p:cNvPr id="11" name="Text 9"/>
          <p:cNvSpPr/>
          <p:nvPr/>
        </p:nvSpPr>
        <p:spPr>
          <a:xfrm>
            <a:off x="548640" y="2148840"/>
            <a:ext cx="22860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In Vivo (Xenograft)</a:t>
            </a:r>
            <a:endParaRPr lang="en-US" sz="1400" dirty="0"/>
          </a:p>
        </p:txBody>
      </p:sp>
      <p:sp>
        <p:nvSpPr>
          <p:cNvPr id="12" name="Text 10"/>
          <p:cNvSpPr/>
          <p:nvPr/>
        </p:nvSpPr>
        <p:spPr>
          <a:xfrm>
            <a:off x="3017520" y="2148840"/>
            <a:ext cx="41148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HSP4, K4F6K4, NKTP-3, MGS4_V8, SFTI-G5</a:t>
            </a:r>
            <a:endParaRPr lang="en-US" sz="1200" dirty="0"/>
          </a:p>
        </p:txBody>
      </p:sp>
      <p:sp>
        <p:nvSpPr>
          <p:cNvPr id="13" name="Text 11"/>
          <p:cNvSpPr/>
          <p:nvPr/>
        </p:nvSpPr>
        <p:spPr>
          <a:xfrm>
            <a:off x="7315200" y="2148840"/>
            <a:ext cx="128016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6 papers</a:t>
            </a:r>
            <a:endParaRPr lang="en-US" sz="1100" dirty="0"/>
          </a:p>
        </p:txBody>
      </p:sp>
      <p:sp>
        <p:nvSpPr>
          <p:cNvPr id="14" name="Shape 12"/>
          <p:cNvSpPr/>
          <p:nvPr/>
        </p:nvSpPr>
        <p:spPr>
          <a:xfrm>
            <a:off x="548640" y="2926080"/>
            <a:ext cx="8046720" cy="73152"/>
          </a:xfrm>
          <a:prstGeom prst="rect">
            <a:avLst/>
          </a:prstGeom>
          <a:solidFill>
            <a:srgbClr val="E2E8F0"/>
          </a:solidFill>
          <a:ln/>
        </p:spPr>
      </p:sp>
      <p:sp>
        <p:nvSpPr>
          <p:cNvPr id="15" name="Shape 13"/>
          <p:cNvSpPr/>
          <p:nvPr/>
        </p:nvSpPr>
        <p:spPr>
          <a:xfrm>
            <a:off x="548640" y="2926080"/>
            <a:ext cx="1280160" cy="73152"/>
          </a:xfrm>
          <a:prstGeom prst="rect">
            <a:avLst/>
          </a:prstGeom>
          <a:solidFill>
            <a:srgbClr val="10B981"/>
          </a:solidFill>
          <a:ln/>
        </p:spPr>
      </p:sp>
      <p:sp>
        <p:nvSpPr>
          <p:cNvPr id="16" name="Text 14"/>
          <p:cNvSpPr/>
          <p:nvPr/>
        </p:nvSpPr>
        <p:spPr>
          <a:xfrm>
            <a:off x="548640" y="3063240"/>
            <a:ext cx="22860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Clinical Trials</a:t>
            </a:r>
            <a:endParaRPr lang="en-US" sz="1400" dirty="0"/>
          </a:p>
        </p:txBody>
      </p:sp>
      <p:sp>
        <p:nvSpPr>
          <p:cNvPr id="17" name="Text 15"/>
          <p:cNvSpPr/>
          <p:nvPr/>
        </p:nvSpPr>
        <p:spPr>
          <a:xfrm>
            <a:off x="3017520" y="3063240"/>
            <a:ext cx="41148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BT8009 (Phase I/II)</a:t>
            </a:r>
            <a:endParaRPr lang="en-US" sz="1200" dirty="0"/>
          </a:p>
        </p:txBody>
      </p:sp>
      <p:sp>
        <p:nvSpPr>
          <p:cNvPr id="18" name="Text 16"/>
          <p:cNvSpPr/>
          <p:nvPr/>
        </p:nvSpPr>
        <p:spPr>
          <a:xfrm>
            <a:off x="7315200" y="3063240"/>
            <a:ext cx="128016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 paper</a:t>
            </a:r>
            <a:endParaRPr lang="en-US" sz="1100" dirty="0"/>
          </a:p>
        </p:txBody>
      </p:sp>
      <p:sp>
        <p:nvSpPr>
          <p:cNvPr id="19" name="Shape 17"/>
          <p:cNvSpPr/>
          <p:nvPr/>
        </p:nvSpPr>
        <p:spPr>
          <a:xfrm>
            <a:off x="548640" y="3840480"/>
            <a:ext cx="8046720" cy="73152"/>
          </a:xfrm>
          <a:prstGeom prst="rect">
            <a:avLst/>
          </a:prstGeom>
          <a:solidFill>
            <a:srgbClr val="E2E8F0"/>
          </a:solidFill>
          <a:ln/>
        </p:spPr>
      </p:sp>
      <p:sp>
        <p:nvSpPr>
          <p:cNvPr id="20" name="Shape 18"/>
          <p:cNvSpPr/>
          <p:nvPr/>
        </p:nvSpPr>
        <p:spPr>
          <a:xfrm>
            <a:off x="548640" y="3840480"/>
            <a:ext cx="1828800" cy="73152"/>
          </a:xfrm>
          <a:prstGeom prst="rect">
            <a:avLst/>
          </a:prstGeom>
          <a:solidFill>
            <a:srgbClr val="8B5CF6"/>
          </a:solidFill>
          <a:ln/>
        </p:spPr>
      </p:sp>
      <p:sp>
        <p:nvSpPr>
          <p:cNvPr id="21" name="Text 19"/>
          <p:cNvSpPr/>
          <p:nvPr/>
        </p:nvSpPr>
        <p:spPr>
          <a:xfrm>
            <a:off x="548640" y="3977640"/>
            <a:ext cx="22860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AI (Computational)</a:t>
            </a:r>
            <a:endParaRPr lang="en-US" sz="1400" dirty="0"/>
          </a:p>
        </p:txBody>
      </p:sp>
      <p:sp>
        <p:nvSpPr>
          <p:cNvPr id="22" name="Text 20"/>
          <p:cNvSpPr/>
          <p:nvPr/>
        </p:nvSpPr>
        <p:spPr>
          <a:xfrm>
            <a:off x="3017520" y="3977640"/>
            <a:ext cx="4114800" cy="320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68 models, 0 clinical validation</a:t>
            </a:r>
            <a:endParaRPr lang="en-US" sz="1200" dirty="0"/>
          </a:p>
        </p:txBody>
      </p:sp>
      <p:sp>
        <p:nvSpPr>
          <p:cNvPr id="23" name="Text 21"/>
          <p:cNvSpPr/>
          <p:nvPr/>
        </p:nvSpPr>
        <p:spPr>
          <a:xfrm>
            <a:off x="7315200" y="3977640"/>
            <a:ext cx="128016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 paper</a:t>
            </a:r>
            <a:endParaRPr lang="en-US" sz="1100" dirty="0"/>
          </a:p>
        </p:txBody>
      </p:sp>
      <p:sp>
        <p:nvSpPr>
          <p:cNvPr id="24" name="Text 22"/>
          <p:cNvSpPr/>
          <p:nvPr/>
        </p:nvSpPr>
        <p:spPr>
          <a:xfrm>
            <a:off x="548640" y="4389120"/>
            <a:ext cx="8046720" cy="365760"/>
          </a:xfrm>
          <a:prstGeom prst="rect">
            <a:avLst/>
          </a:prstGeom>
          <a:noFill/>
          <a:ln/>
        </p:spPr>
        <p:txBody>
          <a:bodyPr wrap="square" lIns="0" tIns="0" rIns="0" bIns="0" rtlCol="0" anchor="ctr"/>
          <a:lstStyle/>
          <a:p>
            <a:pPr indent="0" marL="0">
              <a:buNone/>
            </a:pPr>
            <a:r>
              <a:rPr lang="en-US" sz="1200" i="1" dirty="0">
                <a:solidFill>
                  <a:srgbClr val="EF4444"/>
                </a:solidFill>
                <a:latin typeface="Calibri" pitchFamily="34" charset="0"/>
                <a:ea typeface="Calibri" pitchFamily="34" charset="-122"/>
                <a:cs typeface="Calibri" pitchFamily="34" charset="-120"/>
              </a:rPr>
              <a:t>Pipeline is heavily front-loaded — discovery is outpacing translation</a:t>
            </a:r>
            <a:endParaRPr lang="en-US" sz="1200" dirty="0"/>
          </a:p>
        </p:txBody>
      </p:sp>
      <p:sp>
        <p:nvSpPr>
          <p:cNvPr id="25" name="Shape 23"/>
          <p:cNvSpPr/>
          <p:nvPr/>
        </p:nvSpPr>
        <p:spPr>
          <a:xfrm>
            <a:off x="0" y="4869180"/>
            <a:ext cx="9144000" cy="274320"/>
          </a:xfrm>
          <a:prstGeom prst="rect">
            <a:avLst/>
          </a:prstGeom>
          <a:solidFill>
            <a:srgbClr val="0A1628"/>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4444"/>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Key Gaps in the Field</a:t>
            </a:r>
            <a:endParaRPr lang="en-US" sz="2200" dirty="0"/>
          </a:p>
        </p:txBody>
      </p:sp>
      <p:sp>
        <p:nvSpPr>
          <p:cNvPr id="4" name="Shape 2"/>
          <p:cNvSpPr/>
          <p:nvPr/>
        </p:nvSpPr>
        <p:spPr>
          <a:xfrm>
            <a:off x="548640" y="987552"/>
            <a:ext cx="73152" cy="320040"/>
          </a:xfrm>
          <a:prstGeom prst="rect">
            <a:avLst/>
          </a:prstGeom>
          <a:solidFill>
            <a:srgbClr val="EF4444"/>
          </a:solidFill>
          <a:ln/>
        </p:spPr>
      </p:sp>
      <p:sp>
        <p:nvSpPr>
          <p:cNvPr id="5" name="Text 3"/>
          <p:cNvSpPr/>
          <p:nvPr/>
        </p:nvSpPr>
        <p:spPr>
          <a:xfrm>
            <a:off x="822960" y="914400"/>
            <a:ext cx="2011680" cy="45720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KRAS G12C</a:t>
            </a:r>
            <a:endParaRPr lang="en-US" sz="1300" dirty="0"/>
          </a:p>
        </p:txBody>
      </p:sp>
      <p:sp>
        <p:nvSpPr>
          <p:cNvPr id="6" name="Text 4"/>
          <p:cNvSpPr/>
          <p:nvPr/>
        </p:nvSpPr>
        <p:spPr>
          <a:xfrm>
            <a:off x="3017520" y="914400"/>
            <a:ext cx="566928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Most common KRAS mutation in NSCLC smokers — zero peptides</a:t>
            </a:r>
            <a:endParaRPr lang="en-US" sz="1200" dirty="0"/>
          </a:p>
        </p:txBody>
      </p:sp>
      <p:sp>
        <p:nvSpPr>
          <p:cNvPr id="7" name="Shape 5"/>
          <p:cNvSpPr/>
          <p:nvPr/>
        </p:nvSpPr>
        <p:spPr>
          <a:xfrm>
            <a:off x="548640" y="1536192"/>
            <a:ext cx="73152" cy="320040"/>
          </a:xfrm>
          <a:prstGeom prst="rect">
            <a:avLst/>
          </a:prstGeom>
          <a:solidFill>
            <a:srgbClr val="EF4444"/>
          </a:solidFill>
          <a:ln/>
        </p:spPr>
      </p:sp>
      <p:sp>
        <p:nvSpPr>
          <p:cNvPr id="8" name="Text 6"/>
          <p:cNvSpPr/>
          <p:nvPr/>
        </p:nvSpPr>
        <p:spPr>
          <a:xfrm>
            <a:off x="822960" y="1463040"/>
            <a:ext cx="2011680" cy="45720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SCLC</a:t>
            </a:r>
            <a:endParaRPr lang="en-US" sz="1300" dirty="0"/>
          </a:p>
        </p:txBody>
      </p:sp>
      <p:sp>
        <p:nvSpPr>
          <p:cNvPr id="9" name="Text 7"/>
          <p:cNvSpPr/>
          <p:nvPr/>
        </p:nvSpPr>
        <p:spPr>
          <a:xfrm>
            <a:off x="3017520" y="1463040"/>
            <a:ext cx="566928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Only Chi 2017 addresses it; aggressive subtype, no targeted therapies</a:t>
            </a:r>
            <a:endParaRPr lang="en-US" sz="1200" dirty="0"/>
          </a:p>
        </p:txBody>
      </p:sp>
      <p:sp>
        <p:nvSpPr>
          <p:cNvPr id="10" name="Shape 8"/>
          <p:cNvSpPr/>
          <p:nvPr/>
        </p:nvSpPr>
        <p:spPr>
          <a:xfrm>
            <a:off x="548640" y="2084832"/>
            <a:ext cx="73152" cy="320040"/>
          </a:xfrm>
          <a:prstGeom prst="rect">
            <a:avLst/>
          </a:prstGeom>
          <a:solidFill>
            <a:srgbClr val="EF4444"/>
          </a:solidFill>
          <a:ln/>
        </p:spPr>
      </p:sp>
      <p:sp>
        <p:nvSpPr>
          <p:cNvPr id="11" name="Text 9"/>
          <p:cNvSpPr/>
          <p:nvPr/>
        </p:nvSpPr>
        <p:spPr>
          <a:xfrm>
            <a:off x="822960" y="2011680"/>
            <a:ext cx="2011680" cy="45720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ALK/ROS1/MET</a:t>
            </a:r>
            <a:endParaRPr lang="en-US" sz="1300" dirty="0"/>
          </a:p>
        </p:txBody>
      </p:sp>
      <p:sp>
        <p:nvSpPr>
          <p:cNvPr id="12" name="Text 10"/>
          <p:cNvSpPr/>
          <p:nvPr/>
        </p:nvSpPr>
        <p:spPr>
          <a:xfrm>
            <a:off x="3017520" y="2011680"/>
            <a:ext cx="566928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Mentioned in reviews but zero experimental peptides exist</a:t>
            </a:r>
            <a:endParaRPr lang="en-US" sz="1200" dirty="0"/>
          </a:p>
        </p:txBody>
      </p:sp>
      <p:sp>
        <p:nvSpPr>
          <p:cNvPr id="13" name="Shape 11"/>
          <p:cNvSpPr/>
          <p:nvPr/>
        </p:nvSpPr>
        <p:spPr>
          <a:xfrm>
            <a:off x="548640" y="2633472"/>
            <a:ext cx="73152" cy="320040"/>
          </a:xfrm>
          <a:prstGeom prst="rect">
            <a:avLst/>
          </a:prstGeom>
          <a:solidFill>
            <a:srgbClr val="EF4444"/>
          </a:solidFill>
          <a:ln/>
        </p:spPr>
      </p:sp>
      <p:sp>
        <p:nvSpPr>
          <p:cNvPr id="14" name="Text 12"/>
          <p:cNvSpPr/>
          <p:nvPr/>
        </p:nvSpPr>
        <p:spPr>
          <a:xfrm>
            <a:off x="822960" y="2560320"/>
            <a:ext cx="2011680" cy="45720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Orthotopic Models</a:t>
            </a:r>
            <a:endParaRPr lang="en-US" sz="1300" dirty="0"/>
          </a:p>
        </p:txBody>
      </p:sp>
      <p:sp>
        <p:nvSpPr>
          <p:cNvPr id="15" name="Text 13"/>
          <p:cNvSpPr/>
          <p:nvPr/>
        </p:nvSpPr>
        <p:spPr>
          <a:xfrm>
            <a:off x="3017520" y="2560320"/>
            <a:ext cx="566928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Only 1 of 19 papers uses lung-specific tumor model</a:t>
            </a:r>
            <a:endParaRPr lang="en-US" sz="1200" dirty="0"/>
          </a:p>
        </p:txBody>
      </p:sp>
      <p:sp>
        <p:nvSpPr>
          <p:cNvPr id="16" name="Shape 14"/>
          <p:cNvSpPr/>
          <p:nvPr/>
        </p:nvSpPr>
        <p:spPr>
          <a:xfrm>
            <a:off x="548640" y="3182112"/>
            <a:ext cx="73152" cy="320040"/>
          </a:xfrm>
          <a:prstGeom prst="rect">
            <a:avLst/>
          </a:prstGeom>
          <a:solidFill>
            <a:srgbClr val="EF4444"/>
          </a:solidFill>
          <a:ln/>
        </p:spPr>
      </p:sp>
      <p:sp>
        <p:nvSpPr>
          <p:cNvPr id="17" name="Text 15"/>
          <p:cNvSpPr/>
          <p:nvPr/>
        </p:nvSpPr>
        <p:spPr>
          <a:xfrm>
            <a:off x="822960" y="3108960"/>
            <a:ext cx="2011680" cy="45720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Head-to-Head</a:t>
            </a:r>
            <a:endParaRPr lang="en-US" sz="1300" dirty="0"/>
          </a:p>
        </p:txBody>
      </p:sp>
      <p:sp>
        <p:nvSpPr>
          <p:cNvPr id="18" name="Text 16"/>
          <p:cNvSpPr/>
          <p:nvPr/>
        </p:nvSpPr>
        <p:spPr>
          <a:xfrm>
            <a:off x="3017520" y="3108960"/>
            <a:ext cx="566928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No comparison with standard-of-care antibodies or TKIs</a:t>
            </a:r>
            <a:endParaRPr lang="en-US" sz="1200" dirty="0"/>
          </a:p>
        </p:txBody>
      </p:sp>
      <p:sp>
        <p:nvSpPr>
          <p:cNvPr id="19" name="Shape 17"/>
          <p:cNvSpPr/>
          <p:nvPr/>
        </p:nvSpPr>
        <p:spPr>
          <a:xfrm>
            <a:off x="548640" y="3730752"/>
            <a:ext cx="73152" cy="320040"/>
          </a:xfrm>
          <a:prstGeom prst="rect">
            <a:avLst/>
          </a:prstGeom>
          <a:solidFill>
            <a:srgbClr val="EF4444"/>
          </a:solidFill>
          <a:ln/>
        </p:spPr>
      </p:sp>
      <p:sp>
        <p:nvSpPr>
          <p:cNvPr id="20" name="Text 18"/>
          <p:cNvSpPr/>
          <p:nvPr/>
        </p:nvSpPr>
        <p:spPr>
          <a:xfrm>
            <a:off x="822960" y="3657600"/>
            <a:ext cx="2011680" cy="45720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AI Validation</a:t>
            </a:r>
            <a:endParaRPr lang="en-US" sz="1300" dirty="0"/>
          </a:p>
        </p:txBody>
      </p:sp>
      <p:sp>
        <p:nvSpPr>
          <p:cNvPr id="21" name="Text 19"/>
          <p:cNvSpPr/>
          <p:nvPr/>
        </p:nvSpPr>
        <p:spPr>
          <a:xfrm>
            <a:off x="3017520" y="3657600"/>
            <a:ext cx="566928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68 prediction models, most without wet-lab confirmation</a:t>
            </a:r>
            <a:endParaRPr lang="en-US" sz="1200" dirty="0"/>
          </a:p>
        </p:txBody>
      </p:sp>
      <p:sp>
        <p:nvSpPr>
          <p:cNvPr id="22" name="Shape 20"/>
          <p:cNvSpPr/>
          <p:nvPr/>
        </p:nvSpPr>
        <p:spPr>
          <a:xfrm>
            <a:off x="548640" y="4279392"/>
            <a:ext cx="73152" cy="320040"/>
          </a:xfrm>
          <a:prstGeom prst="rect">
            <a:avLst/>
          </a:prstGeom>
          <a:solidFill>
            <a:srgbClr val="EF4444"/>
          </a:solidFill>
          <a:ln/>
        </p:spPr>
      </p:sp>
      <p:sp>
        <p:nvSpPr>
          <p:cNvPr id="23" name="Text 21"/>
          <p:cNvSpPr/>
          <p:nvPr/>
        </p:nvSpPr>
        <p:spPr>
          <a:xfrm>
            <a:off x="822960" y="4206240"/>
            <a:ext cx="2011680" cy="45720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Immunotherapy</a:t>
            </a:r>
            <a:endParaRPr lang="en-US" sz="1300" dirty="0"/>
          </a:p>
        </p:txBody>
      </p:sp>
      <p:sp>
        <p:nvSpPr>
          <p:cNvPr id="24" name="Text 22"/>
          <p:cNvSpPr/>
          <p:nvPr/>
        </p:nvSpPr>
        <p:spPr>
          <a:xfrm>
            <a:off x="3017520" y="4206240"/>
            <a:ext cx="566928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No studies combining peptides with checkpoint inhibitors</a:t>
            </a:r>
            <a:endParaRPr lang="en-US" sz="1200" dirty="0"/>
          </a:p>
        </p:txBody>
      </p:sp>
      <p:sp>
        <p:nvSpPr>
          <p:cNvPr id="25" name="Shape 23"/>
          <p:cNvSpPr/>
          <p:nvPr/>
        </p:nvSpPr>
        <p:spPr>
          <a:xfrm>
            <a:off x="0" y="4869180"/>
            <a:ext cx="9144000" cy="274320"/>
          </a:xfrm>
          <a:prstGeom prst="rect">
            <a:avLst/>
          </a:prstGeom>
          <a:solidFill>
            <a:srgbClr val="0A1628"/>
          </a:solid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Five Emerging Opportunities</a:t>
            </a:r>
            <a:endParaRPr lang="en-US" sz="2200" dirty="0"/>
          </a:p>
        </p:txBody>
      </p:sp>
      <p:sp>
        <p:nvSpPr>
          <p:cNvPr id="4" name="Shape 2"/>
          <p:cNvSpPr/>
          <p:nvPr/>
        </p:nvSpPr>
        <p:spPr>
          <a:xfrm>
            <a:off x="548640" y="914400"/>
            <a:ext cx="804672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548640" y="914400"/>
            <a:ext cx="73152" cy="685800"/>
          </a:xfrm>
          <a:prstGeom prst="rect">
            <a:avLst/>
          </a:prstGeom>
          <a:solidFill>
            <a:srgbClr val="065A82"/>
          </a:solidFill>
          <a:ln/>
        </p:spPr>
      </p:sp>
      <p:sp>
        <p:nvSpPr>
          <p:cNvPr id="6" name="Shape 4"/>
          <p:cNvSpPr/>
          <p:nvPr/>
        </p:nvSpPr>
        <p:spPr>
          <a:xfrm>
            <a:off x="822960" y="1024128"/>
            <a:ext cx="457200" cy="457200"/>
          </a:xfrm>
          <a:prstGeom prst="ellipse">
            <a:avLst/>
          </a:prstGeom>
          <a:solidFill>
            <a:srgbClr val="065A82"/>
          </a:solidFill>
          <a:ln/>
        </p:spPr>
      </p:sp>
      <p:sp>
        <p:nvSpPr>
          <p:cNvPr id="7" name="Text 5"/>
          <p:cNvSpPr/>
          <p:nvPr/>
        </p:nvSpPr>
        <p:spPr>
          <a:xfrm>
            <a:off x="822960" y="1024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63040" y="960120"/>
            <a:ext cx="6858000" cy="29260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Oral Peptide Therapeutics</a:t>
            </a:r>
            <a:endParaRPr lang="en-US" sz="1400" dirty="0"/>
          </a:p>
        </p:txBody>
      </p:sp>
      <p:sp>
        <p:nvSpPr>
          <p:cNvPr id="9" name="Text 7"/>
          <p:cNvSpPr/>
          <p:nvPr/>
        </p:nvSpPr>
        <p:spPr>
          <a:xfrm>
            <a:off x="1463040" y="1252728"/>
            <a:ext cx="6858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SFTI-G5 proves oral bioavailability is achievable. Generalizing scaffold grafting to other targets could transform patient compliance.</a:t>
            </a:r>
            <a:endParaRPr lang="en-US" sz="1100" dirty="0"/>
          </a:p>
        </p:txBody>
      </p:sp>
      <p:sp>
        <p:nvSpPr>
          <p:cNvPr id="10" name="Shape 8"/>
          <p:cNvSpPr/>
          <p:nvPr/>
        </p:nvSpPr>
        <p:spPr>
          <a:xfrm>
            <a:off x="548640" y="1719072"/>
            <a:ext cx="804672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548640" y="1719072"/>
            <a:ext cx="73152" cy="685800"/>
          </a:xfrm>
          <a:prstGeom prst="rect">
            <a:avLst/>
          </a:prstGeom>
          <a:solidFill>
            <a:srgbClr val="8B5CF6"/>
          </a:solidFill>
          <a:ln/>
        </p:spPr>
      </p:sp>
      <p:sp>
        <p:nvSpPr>
          <p:cNvPr id="12" name="Shape 10"/>
          <p:cNvSpPr/>
          <p:nvPr/>
        </p:nvSpPr>
        <p:spPr>
          <a:xfrm>
            <a:off x="822960" y="1828800"/>
            <a:ext cx="457200" cy="457200"/>
          </a:xfrm>
          <a:prstGeom prst="ellipse">
            <a:avLst/>
          </a:prstGeom>
          <a:solidFill>
            <a:srgbClr val="8B5CF6"/>
          </a:solidFill>
          <a:ln/>
        </p:spPr>
      </p:sp>
      <p:sp>
        <p:nvSpPr>
          <p:cNvPr id="13" name="Text 11"/>
          <p:cNvSpPr/>
          <p:nvPr/>
        </p:nvSpPr>
        <p:spPr>
          <a:xfrm>
            <a:off x="82296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463040" y="1764792"/>
            <a:ext cx="6858000" cy="29260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AI-to-Clinic</a:t>
            </a:r>
            <a:endParaRPr lang="en-US" sz="1400" dirty="0"/>
          </a:p>
        </p:txBody>
      </p:sp>
      <p:sp>
        <p:nvSpPr>
          <p:cNvPr id="15" name="Text 13"/>
          <p:cNvSpPr/>
          <p:nvPr/>
        </p:nvSpPr>
        <p:spPr>
          <a:xfrm>
            <a:off x="1463040" y="2057400"/>
            <a:ext cx="6858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First AI-discovered ACP to reach clinical trials will validate the entire computational field.</a:t>
            </a:r>
            <a:endParaRPr lang="en-US" sz="1100" dirty="0"/>
          </a:p>
        </p:txBody>
      </p:sp>
      <p:sp>
        <p:nvSpPr>
          <p:cNvPr id="16" name="Shape 14"/>
          <p:cNvSpPr/>
          <p:nvPr/>
        </p:nvSpPr>
        <p:spPr>
          <a:xfrm>
            <a:off x="548640" y="2523744"/>
            <a:ext cx="804672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548640" y="2523744"/>
            <a:ext cx="73152" cy="685800"/>
          </a:xfrm>
          <a:prstGeom prst="rect">
            <a:avLst/>
          </a:prstGeom>
          <a:solidFill>
            <a:srgbClr val="1C7293"/>
          </a:solidFill>
          <a:ln/>
        </p:spPr>
      </p:sp>
      <p:sp>
        <p:nvSpPr>
          <p:cNvPr id="18" name="Shape 16"/>
          <p:cNvSpPr/>
          <p:nvPr/>
        </p:nvSpPr>
        <p:spPr>
          <a:xfrm>
            <a:off x="822960" y="2633472"/>
            <a:ext cx="457200" cy="457200"/>
          </a:xfrm>
          <a:prstGeom prst="ellipse">
            <a:avLst/>
          </a:prstGeom>
          <a:solidFill>
            <a:srgbClr val="1C7293"/>
          </a:solidFill>
          <a:ln/>
        </p:spPr>
      </p:sp>
      <p:sp>
        <p:nvSpPr>
          <p:cNvPr id="19" name="Text 17"/>
          <p:cNvSpPr/>
          <p:nvPr/>
        </p:nvSpPr>
        <p:spPr>
          <a:xfrm>
            <a:off x="822960" y="26334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463040" y="2569464"/>
            <a:ext cx="6858000" cy="29260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Peptide-Immunotherapy</a:t>
            </a:r>
            <a:endParaRPr lang="en-US" sz="1400" dirty="0"/>
          </a:p>
        </p:txBody>
      </p:sp>
      <p:sp>
        <p:nvSpPr>
          <p:cNvPr id="21" name="Text 19"/>
          <p:cNvSpPr/>
          <p:nvPr/>
        </p:nvSpPr>
        <p:spPr>
          <a:xfrm>
            <a:off x="1463040" y="2862072"/>
            <a:ext cx="6858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PD-L1-targeting cyclotide grafts could synergize with checkpoint inhibitors.</a:t>
            </a:r>
            <a:endParaRPr lang="en-US" sz="1100" dirty="0"/>
          </a:p>
        </p:txBody>
      </p:sp>
      <p:sp>
        <p:nvSpPr>
          <p:cNvPr id="22" name="Shape 20"/>
          <p:cNvSpPr/>
          <p:nvPr/>
        </p:nvSpPr>
        <p:spPr>
          <a:xfrm>
            <a:off x="548640" y="3328416"/>
            <a:ext cx="804672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3" name="Shape 21"/>
          <p:cNvSpPr/>
          <p:nvPr/>
        </p:nvSpPr>
        <p:spPr>
          <a:xfrm>
            <a:off x="548640" y="3328416"/>
            <a:ext cx="73152" cy="685800"/>
          </a:xfrm>
          <a:prstGeom prst="rect">
            <a:avLst/>
          </a:prstGeom>
          <a:solidFill>
            <a:srgbClr val="F59E0B"/>
          </a:solidFill>
          <a:ln/>
        </p:spPr>
      </p:sp>
      <p:sp>
        <p:nvSpPr>
          <p:cNvPr id="24" name="Shape 22"/>
          <p:cNvSpPr/>
          <p:nvPr/>
        </p:nvSpPr>
        <p:spPr>
          <a:xfrm>
            <a:off x="822960" y="3438144"/>
            <a:ext cx="457200" cy="457200"/>
          </a:xfrm>
          <a:prstGeom prst="ellipse">
            <a:avLst/>
          </a:prstGeom>
          <a:solidFill>
            <a:srgbClr val="F59E0B"/>
          </a:solidFill>
          <a:ln/>
        </p:spPr>
      </p:sp>
      <p:sp>
        <p:nvSpPr>
          <p:cNvPr id="25" name="Text 23"/>
          <p:cNvSpPr/>
          <p:nvPr/>
        </p:nvSpPr>
        <p:spPr>
          <a:xfrm>
            <a:off x="822960" y="34381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1463040" y="3374136"/>
            <a:ext cx="6858000" cy="29260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Inhalable Delivery</a:t>
            </a:r>
            <a:endParaRPr lang="en-US" sz="1400" dirty="0"/>
          </a:p>
        </p:txBody>
      </p:sp>
      <p:sp>
        <p:nvSpPr>
          <p:cNvPr id="27" name="Text 25"/>
          <p:cNvSpPr/>
          <p:nvPr/>
        </p:nvSpPr>
        <p:spPr>
          <a:xfrm>
            <a:off x="1463040" y="3666744"/>
            <a:ext cx="6858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Direct pulmonary deposition bypasses systemic distribution — intuitive for lung cancer.</a:t>
            </a:r>
            <a:endParaRPr lang="en-US" sz="1100" dirty="0"/>
          </a:p>
        </p:txBody>
      </p:sp>
      <p:sp>
        <p:nvSpPr>
          <p:cNvPr id="28" name="Shape 26"/>
          <p:cNvSpPr/>
          <p:nvPr/>
        </p:nvSpPr>
        <p:spPr>
          <a:xfrm>
            <a:off x="548640" y="4133088"/>
            <a:ext cx="8046720" cy="685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9" name="Shape 27"/>
          <p:cNvSpPr/>
          <p:nvPr/>
        </p:nvSpPr>
        <p:spPr>
          <a:xfrm>
            <a:off x="548640" y="4133088"/>
            <a:ext cx="73152" cy="685800"/>
          </a:xfrm>
          <a:prstGeom prst="rect">
            <a:avLst/>
          </a:prstGeom>
          <a:solidFill>
            <a:srgbClr val="10B981"/>
          </a:solidFill>
          <a:ln/>
        </p:spPr>
      </p:sp>
      <p:sp>
        <p:nvSpPr>
          <p:cNvPr id="30" name="Shape 28"/>
          <p:cNvSpPr/>
          <p:nvPr/>
        </p:nvSpPr>
        <p:spPr>
          <a:xfrm>
            <a:off x="822960" y="4242816"/>
            <a:ext cx="457200" cy="457200"/>
          </a:xfrm>
          <a:prstGeom prst="ellipse">
            <a:avLst/>
          </a:prstGeom>
          <a:solidFill>
            <a:srgbClr val="10B981"/>
          </a:solidFill>
          <a:ln/>
        </p:spPr>
      </p:sp>
      <p:sp>
        <p:nvSpPr>
          <p:cNvPr id="31" name="Text 29"/>
          <p:cNvSpPr/>
          <p:nvPr/>
        </p:nvSpPr>
        <p:spPr>
          <a:xfrm>
            <a:off x="822960" y="42428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Text 30"/>
          <p:cNvSpPr/>
          <p:nvPr/>
        </p:nvSpPr>
        <p:spPr>
          <a:xfrm>
            <a:off x="1463040" y="4178808"/>
            <a:ext cx="6858000" cy="292608"/>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Dual-Target Peptides</a:t>
            </a:r>
            <a:endParaRPr lang="en-US" sz="1400" dirty="0"/>
          </a:p>
        </p:txBody>
      </p:sp>
      <p:sp>
        <p:nvSpPr>
          <p:cNvPr id="33" name="Text 31"/>
          <p:cNvSpPr/>
          <p:nvPr/>
        </p:nvSpPr>
        <p:spPr>
          <a:xfrm>
            <a:off x="1463040" y="4471416"/>
            <a:ext cx="68580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NKTP-3 proved surface + intracellular targeting works. High-impact expansion.</a:t>
            </a:r>
            <a:endParaRPr lang="en-US" sz="1100" dirty="0"/>
          </a:p>
        </p:txBody>
      </p:sp>
      <p:sp>
        <p:nvSpPr>
          <p:cNvPr id="34" name="Shape 32"/>
          <p:cNvSpPr/>
          <p:nvPr/>
        </p:nvSpPr>
        <p:spPr>
          <a:xfrm>
            <a:off x="0" y="4869180"/>
            <a:ext cx="9144000" cy="274320"/>
          </a:xfrm>
          <a:prstGeom prst="rect">
            <a:avLst/>
          </a:prstGeom>
          <a:solidFill>
            <a:srgbClr val="0A1628"/>
          </a:solidFill>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48640" y="182880"/>
            <a:ext cx="3657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References</a:t>
            </a:r>
            <a:endParaRPr lang="en-US" sz="2200" dirty="0"/>
          </a:p>
        </p:txBody>
      </p:sp>
      <p:sp>
        <p:nvSpPr>
          <p:cNvPr id="4" name="Text 2"/>
          <p:cNvSpPr/>
          <p:nvPr/>
        </p:nvSpPr>
        <p:spPr>
          <a:xfrm>
            <a:off x="548640" y="594360"/>
            <a:ext cx="36576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19 Papers Surveyed (2014–2025)</a:t>
            </a:r>
            <a:endParaRPr lang="en-US" sz="1200" dirty="0"/>
          </a:p>
        </p:txBody>
      </p:sp>
      <p:sp>
        <p:nvSpPr>
          <p:cNvPr id="5" name="Text 3"/>
          <p:cNvSpPr/>
          <p:nvPr/>
        </p:nvSpPr>
        <p:spPr>
          <a:xfrm>
            <a:off x="548640" y="1005840"/>
            <a:ext cx="3840480" cy="3657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 McGuire et al. (2014) Sci Rep</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2. Chi et al. (2017) Theranostics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3. Bakhshinejad et al. (2018) IJPR</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4. Furman et al. (2022) Pharmaceutics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5. Zhou et al. (2022) JACS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6. Shin et al. (2022) IJMS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7. Yang et al. (2022) Pharmaceutics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8. Mudd et al. (2022) J Med Chem</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9. Nhan et al. (2023) IJMS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10. Alamdari et al. (2023) JCRC</a:t>
            </a:r>
            <a:endParaRPr lang="en-US" sz="1000" dirty="0"/>
          </a:p>
        </p:txBody>
      </p:sp>
      <p:sp>
        <p:nvSpPr>
          <p:cNvPr id="6" name="Text 4"/>
          <p:cNvSpPr/>
          <p:nvPr/>
        </p:nvSpPr>
        <p:spPr>
          <a:xfrm>
            <a:off x="4754880" y="1005840"/>
            <a:ext cx="3840480" cy="3657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11. Allred et al. (2023) Commun Biol</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12. Bauso et al. (2024) IJMS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13. Kim &amp; Park (2024) Biomedicines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14. Singh et al. (2025) ACS PTS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15. Lee et al. (2025) Explor TAT</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16. Wu et al. (2025) iMetaOmics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17. Chowdhury et al. (2025) IJPRT</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18. Karankar et al. (2025) Life Sci</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19. Karati et al. (2025) IJPRT</a:t>
            </a:r>
            <a:endParaRPr lang="en-US" sz="1000" dirty="0"/>
          </a:p>
        </p:txBody>
      </p:sp>
      <p:sp>
        <p:nvSpPr>
          <p:cNvPr id="7" name="Text 5"/>
          <p:cNvSpPr/>
          <p:nvPr/>
        </p:nvSpPr>
        <p:spPr>
          <a:xfrm>
            <a:off x="548640" y="4389120"/>
            <a:ext cx="8046720" cy="457200"/>
          </a:xfrm>
          <a:prstGeom prst="rect">
            <a:avLst/>
          </a:prstGeom>
          <a:noFill/>
          <a:ln/>
        </p:spPr>
        <p:txBody>
          <a:bodyPr wrap="square" lIns="0" tIns="0" rIns="0" bIns="0" rtlCol="0" anchor="ctr"/>
          <a:lstStyle/>
          <a:p>
            <a:pPr algn="ctr" indent="0" marL="0">
              <a:buNone/>
            </a:pPr>
            <a:r>
              <a:rPr lang="en-US" sz="1800" dirty="0">
                <a:solidFill>
                  <a:srgbClr val="0EA5E9"/>
                </a:solidFill>
                <a:latin typeface="Georgia" pitchFamily="34" charset="0"/>
                <a:ea typeface="Georgia" pitchFamily="34" charset="-122"/>
                <a:cs typeface="Georgia"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Cancer-Targeting Peptides for Lung Cancer (2014-2025)</dc:title>
  <dc:subject>PptxGenJS Presentation</dc:subject>
  <dc:creator>Cancer Peptides Literature Survey</dc:creator>
  <cp:lastModifiedBy>Cancer Peptides Literature Survey</cp:lastModifiedBy>
  <cp:revision>1</cp:revision>
  <dcterms:created xsi:type="dcterms:W3CDTF">2026-03-13T12:25:21Z</dcterms:created>
  <dcterms:modified xsi:type="dcterms:W3CDTF">2026-03-13T12:25:21Z</dcterms:modified>
</cp:coreProperties>
</file>